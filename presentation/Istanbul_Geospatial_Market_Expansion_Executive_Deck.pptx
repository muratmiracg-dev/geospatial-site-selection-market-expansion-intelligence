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3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4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5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6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caf6b254a441ea" /><Relationship Type="http://schemas.openxmlformats.org/officeDocument/2006/relationships/extended-properties" Target="/docProps/app.xml" Id="Re6970c491a184ece" /><Relationship Type="http://schemas.openxmlformats.org/officeDocument/2006/relationships/officeDocument" Target="/ppt/presentation.xml" Id="R8e5b70c718d642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38e697c3de4942"/>
  </p:sldMasterIdLst>
  <p:notesMasterIdLst>
    <p:notesMasterId xmlns:r="http://schemas.openxmlformats.org/officeDocument/2006/relationships" r:id="R6d7349529cf24492"/>
  </p:notesMasterIdLst>
  <p:sldIdLst>
    <p:sldId xmlns:r="http://schemas.openxmlformats.org/officeDocument/2006/relationships" id="256" r:id="R3fe27fa7053045bf"/>
    <p:sldId xmlns:r="http://schemas.openxmlformats.org/officeDocument/2006/relationships" id="257" r:id="R04e4407d3163477d"/>
    <p:sldId xmlns:r="http://schemas.openxmlformats.org/officeDocument/2006/relationships" id="258" r:id="Rc5a91c589bfc4363"/>
    <p:sldId xmlns:r="http://schemas.openxmlformats.org/officeDocument/2006/relationships" id="259" r:id="R7cb520bc105d47f8"/>
    <p:sldId xmlns:r="http://schemas.openxmlformats.org/officeDocument/2006/relationships" id="260" r:id="Rdea1dfdf57354215"/>
    <p:sldId xmlns:r="http://schemas.openxmlformats.org/officeDocument/2006/relationships" id="261" r:id="Rc333e5c449bf4489"/>
    <p:sldId xmlns:r="http://schemas.openxmlformats.org/officeDocument/2006/relationships" id="262" r:id="R3190026c1a644916"/>
    <p:sldId xmlns:r="http://schemas.openxmlformats.org/officeDocument/2006/relationships" id="263" r:id="R761c9bdd5ebf45a4"/>
    <p:sldId xmlns:r="http://schemas.openxmlformats.org/officeDocument/2006/relationships" id="264" r:id="R2c9de1ffb771418f"/>
    <p:sldId xmlns:r="http://schemas.openxmlformats.org/officeDocument/2006/relationships" id="265" r:id="R7f2f029f5ffe4348"/>
    <p:sldId xmlns:r="http://schemas.openxmlformats.org/officeDocument/2006/relationships" id="266" r:id="Rb79861962c4e4967"/>
    <p:sldId xmlns:r="http://schemas.openxmlformats.org/officeDocument/2006/relationships" id="267" r:id="R547a0f8cad944426"/>
    <p:sldId xmlns:r="http://schemas.openxmlformats.org/officeDocument/2006/relationships" id="268" r:id="Rcda80014817345de"/>
    <p:sldId xmlns:r="http://schemas.openxmlformats.org/officeDocument/2006/relationships" id="269" r:id="R646bb27c555d4582"/>
    <p:sldId xmlns:r="http://schemas.openxmlformats.org/officeDocument/2006/relationships" id="270" r:id="R4a336349be4a4062"/>
    <p:sldId xmlns:r="http://schemas.openxmlformats.org/officeDocument/2006/relationships" id="271" r:id="R0359d3b3acf94b1e"/>
    <p:sldId xmlns:r="http://schemas.openxmlformats.org/officeDocument/2006/relationships" id="272" r:id="Rc3bc13908bfb4702"/>
    <p:sldId xmlns:r="http://schemas.openxmlformats.org/officeDocument/2006/relationships" id="273" r:id="R36b6aec9c4b9433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657ed810294aa7" /><Relationship Type="http://schemas.openxmlformats.org/officeDocument/2006/relationships/slideMaster" Target="/ppt/slideMasters/slideMaster1.xml" Id="R0b38e697c3de4942" /><Relationship Type="http://schemas.openxmlformats.org/officeDocument/2006/relationships/notesMaster" Target="/ppt/notesMasters/notesMaster1.xml" Id="R6d7349529cf24492" /><Relationship Type="http://schemas.openxmlformats.org/officeDocument/2006/relationships/presProps" Target="/ppt/presProps.xml" Id="Rad46b7a2d03d4349" /><Relationship Type="http://schemas.openxmlformats.org/officeDocument/2006/relationships/tableStyles" Target="/ppt/tableStyles.xml" Id="Rfd0adf7294f748f4" /><Relationship Type="http://schemas.openxmlformats.org/officeDocument/2006/relationships/slide" Target="/ppt/slides/slide1.xml" Id="R3fe27fa7053045bf" /><Relationship Type="http://schemas.openxmlformats.org/officeDocument/2006/relationships/slide" Target="/ppt/slides/slide2.xml" Id="R04e4407d3163477d" /><Relationship Type="http://schemas.openxmlformats.org/officeDocument/2006/relationships/slide" Target="/ppt/slides/slide3.xml" Id="Rc5a91c589bfc4363" /><Relationship Type="http://schemas.openxmlformats.org/officeDocument/2006/relationships/slide" Target="/ppt/slides/slide4.xml" Id="R7cb520bc105d47f8" /><Relationship Type="http://schemas.openxmlformats.org/officeDocument/2006/relationships/slide" Target="/ppt/slides/slide5.xml" Id="Rdea1dfdf57354215" /><Relationship Type="http://schemas.openxmlformats.org/officeDocument/2006/relationships/slide" Target="/ppt/slides/slide6.xml" Id="Rc333e5c449bf4489" /><Relationship Type="http://schemas.openxmlformats.org/officeDocument/2006/relationships/slide" Target="/ppt/slides/slide7.xml" Id="R3190026c1a644916" /><Relationship Type="http://schemas.openxmlformats.org/officeDocument/2006/relationships/slide" Target="/ppt/slides/slide8.xml" Id="R761c9bdd5ebf45a4" /><Relationship Type="http://schemas.openxmlformats.org/officeDocument/2006/relationships/slide" Target="/ppt/slides/slide9.xml" Id="R2c9de1ffb771418f" /><Relationship Type="http://schemas.openxmlformats.org/officeDocument/2006/relationships/slide" Target="/ppt/slides/slide10.xml" Id="R7f2f029f5ffe4348" /><Relationship Type="http://schemas.openxmlformats.org/officeDocument/2006/relationships/slide" Target="/ppt/slides/slide11.xml" Id="Rb79861962c4e4967" /><Relationship Type="http://schemas.openxmlformats.org/officeDocument/2006/relationships/slide" Target="/ppt/slides/slide12.xml" Id="R547a0f8cad944426" /><Relationship Type="http://schemas.openxmlformats.org/officeDocument/2006/relationships/slide" Target="/ppt/slides/slide13.xml" Id="Rcda80014817345de" /><Relationship Type="http://schemas.openxmlformats.org/officeDocument/2006/relationships/slide" Target="/ppt/slides/slide14.xml" Id="R646bb27c555d4582" /><Relationship Type="http://schemas.openxmlformats.org/officeDocument/2006/relationships/slide" Target="/ppt/slides/slide15.xml" Id="R4a336349be4a4062" /><Relationship Type="http://schemas.openxmlformats.org/officeDocument/2006/relationships/slide" Target="/ppt/slides/slide16.xml" Id="R0359d3b3acf94b1e" /><Relationship Type="http://schemas.openxmlformats.org/officeDocument/2006/relationships/slide" Target="/ppt/slides/slide17.xml" Id="Rc3bc13908bfb4702" /><Relationship Type="http://schemas.openxmlformats.org/officeDocument/2006/relationships/slide" Target="/ppt/slides/slide18.xml" Id="R36b6aec9c4b943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a7711681544a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24638032484527" /><Relationship Type="http://schemas.openxmlformats.org/officeDocument/2006/relationships/notesMaster" Target="/ppt/notesMasters/notesMaster1.xml" Id="R7aa687b5a7c346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10ed26b06746d2" /><Relationship Type="http://schemas.openxmlformats.org/officeDocument/2006/relationships/notesMaster" Target="/ppt/notesMasters/notesMaster1.xml" Id="R6f2093a4a17d47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27889086174b66" /><Relationship Type="http://schemas.openxmlformats.org/officeDocument/2006/relationships/notesMaster" Target="/ppt/notesMasters/notesMaster1.xml" Id="R991e04d7b29f4b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f74c453892450a" /><Relationship Type="http://schemas.openxmlformats.org/officeDocument/2006/relationships/notesMaster" Target="/ppt/notesMasters/notesMaster1.xml" Id="Rc74d06c3990d44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21cfec8e4c498d" /><Relationship Type="http://schemas.openxmlformats.org/officeDocument/2006/relationships/notesMaster" Target="/ppt/notesMasters/notesMaster1.xml" Id="Rf388f0c9977443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6bf8f773c945b6" /><Relationship Type="http://schemas.openxmlformats.org/officeDocument/2006/relationships/notesMaster" Target="/ppt/notesMasters/notesMaster1.xml" Id="R991264c2d03447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929c99497f4bf9" /><Relationship Type="http://schemas.openxmlformats.org/officeDocument/2006/relationships/notesMaster" Target="/ppt/notesMasters/notesMaster1.xml" Id="R6f4089c6b83f49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a55e6536eb4a80" /><Relationship Type="http://schemas.openxmlformats.org/officeDocument/2006/relationships/notesMaster" Target="/ppt/notesMasters/notesMaster1.xml" Id="Ra56c20d4410740b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ce618c511264d1c" /><Relationship Type="http://schemas.openxmlformats.org/officeDocument/2006/relationships/notesMaster" Target="/ppt/notesMasters/notesMaster1.xml" Id="Raf6841988c23474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07b4a29345749b8" /><Relationship Type="http://schemas.openxmlformats.org/officeDocument/2006/relationships/notesMaster" Target="/ppt/notesMasters/notesMaster1.xml" Id="R68d22b96bafb434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caa01f4a3e1408a" /><Relationship Type="http://schemas.openxmlformats.org/officeDocument/2006/relationships/notesMaster" Target="/ppt/notesMasters/notesMaster1.xml" Id="R9351059fa53544e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6987578ad2348f1" /><Relationship Type="http://schemas.openxmlformats.org/officeDocument/2006/relationships/notesMaster" Target="/ppt/notesMasters/notesMaster1.xml" Id="R8c6d75b3e5fa4fc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61068364c564f18" /><Relationship Type="http://schemas.openxmlformats.org/officeDocument/2006/relationships/notesMaster" Target="/ppt/notesMasters/notesMaster1.xml" Id="Rf4263a0dd74e451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4c2f1ba12094037" /><Relationship Type="http://schemas.openxmlformats.org/officeDocument/2006/relationships/notesMaster" Target="/ppt/notesMasters/notesMaster1.xml" Id="Rad0f6b2e548b4e1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c072032c4f6450e" /><Relationship Type="http://schemas.openxmlformats.org/officeDocument/2006/relationships/notesMaster" Target="/ppt/notesMasters/notesMaster1.xml" Id="R140c56cb82bf476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1c37d267f2546f4" /><Relationship Type="http://schemas.openxmlformats.org/officeDocument/2006/relationships/notesMaster" Target="/ppt/notesMasters/notesMaster1.xml" Id="R5805d0a0ed4640e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bf186a343174c50" /><Relationship Type="http://schemas.openxmlformats.org/officeDocument/2006/relationships/notesMaster" Target="/ppt/notesMasters/notesMaster1.xml" Id="R4125daaa861d4e8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c10cbbdfa1a49cf" /><Relationship Type="http://schemas.openxmlformats.org/officeDocument/2006/relationships/notesMaster" Target="/ppt/notesMasters/notesMaster1.xml" Id="Rc01790770bab43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deck as a reproducible decision-support system, not a site-acquisition recommendation.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pipeline: artifacts/metrics/pipeline_summary.json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Lead with the portfolio answer, then emphasize that ROI uncertainty is a deliberate decision gate.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pipeline: artifacts/data/scenario_summaries.csv</a:t>
            </a:r>
          </a:p>
          <a:p xmlns:a="http://schemas.openxmlformats.org/drawingml/2006/main">
            <a:r>
              <a:t>- Local pipeline: artifacts/data/candidate_scores.csv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footprint is analytical—not an administrative boundary—and all coordinates are WGS84.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map: artifacts/figures/candidate_rank_map.png</a:t>
            </a:r>
          </a:p>
          <a:p xmlns:a="http://schemas.openxmlformats.org/drawingml/2006/main">
            <a:r>
              <a:t>- Local pipeline: artifacts/metrics/pipeline_summary.json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The audit spine is continuous across every analytical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architecture: docs/architecture.md</a:t>
            </a:r>
          </a:p>
          <a:p xmlns:a="http://schemas.openxmlformats.org/drawingml/2006/main">
            <a:r>
              <a:t>- Local pipeline: src/site_intelligence/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out the analytical-boundary limitation and the absence of real customer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OpenStreetMap attribution: https://www.openstreetmap.org/copyright</a:t>
            </a:r>
          </a:p>
          <a:p xmlns:a="http://schemas.openxmlformats.org/drawingml/2006/main">
            <a:r>
              <a:t>- H3 license: https://h3geo.org/docs/</a:t>
            </a:r>
          </a:p>
          <a:p xmlns:a="http://schemas.openxmlformats.org/drawingml/2006/main">
            <a:r>
              <a:t>- GeoPandas license: https://geopandas.org/en/stable/about.html</a:t>
            </a:r>
          </a:p>
          <a:p xmlns:a="http://schemas.openxmlformats.org/drawingml/2006/main">
            <a:r>
              <a:t>- Shapely license: https://shapely.readthedocs.io/</a:t>
            </a:r>
          </a:p>
          <a:p xmlns:a="http://schemas.openxmlformats.org/drawingml/2006/main">
            <a:r>
              <a:t>- Local crosswalk: docs/data_source_license_crosswalk.md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Stress that travel times come from a deterministic H3 network proxy, not live routing or current traffic.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map: artifacts/figures/network_isochrones.png</a:t>
            </a:r>
          </a:p>
          <a:p xmlns:a="http://schemas.openxmlformats.org/drawingml/2006/main">
            <a:r>
              <a:t>- Local accessibility: artifacts/data/candidate_accessibility.csv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map to distinguish microzone opportunity from the final candidate rank.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map: artifacts/figures/white_space_opportunity_map.png</a:t>
            </a:r>
          </a:p>
          <a:p xmlns:a="http://schemas.openxmlformats.org/drawingml/2006/main">
            <a:r>
              <a:t>- Local H3 data: data/processed/h3_microzones.geojson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Contrast C24 and C18 with Kagithane: similar demand, very different estate overlap.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candidates: artifacts/data/candidate_scores.csv</a:t>
            </a:r>
          </a:p>
          <a:p xmlns:a="http://schemas.openxmlformats.org/drawingml/2006/main">
            <a:r>
              <a:t>- Local method: docs/methodology.md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spatial validation is correctly implemented but synthetic targets make the metric optimistic.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figure: artifacts/figures/model_validation.png</a:t>
            </a:r>
          </a:p>
          <a:p xmlns:a="http://schemas.openxmlformats.org/drawingml/2006/main">
            <a:r>
              <a:t>- Local metrics: artifacts/metrics/model_metrics.json</a:t>
            </a:r>
          </a:p>
          <a:p xmlns:a="http://schemas.openxmlformats.org/drawingml/2006/main">
            <a:r>
              <a:t>- Local out-of-fold data: artifacts/data/model_out_of_fold_predictions.csv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SHAP explains the demand model, while AHP contributions explain the final location score.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SHAP: artifacts/data/shap_contributions.csv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Clarify that exact reciprocal ratios make the pairwise matrix fully consistent by construction.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factor specification: artifacts/data/factor_specification.csv</a:t>
            </a:r>
          </a:p>
          <a:p xmlns:a="http://schemas.openxmlformats.org/drawingml/2006/main">
            <a:r>
              <a:t>- Local contributions: artifacts/data/score_contributions.csv</a:t>
            </a:r>
          </a:p>
          <a:p xmlns:a="http://schemas.openxmlformats.org/drawingml/2006/main">
            <a:r>
              <a:t>- Local AHP check: artifacts/metrics/ahp_consistency.json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Separate ranking robustness from real-world validity.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sensitivity: artifacts/data/weight_sensitivity.csv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CBC solves the checked-in deterministic binary program to optimality for all three scenarios.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optimizer: src/site_intelligence/optimization.py</a:t>
            </a:r>
          </a:p>
          <a:p xmlns:a="http://schemas.openxmlformats.org/drawingml/2006/main">
            <a:r>
              <a:t>- Local scenario results: artifacts/data/scenario_summaries.csv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negative pessimistic EBIT to reinforce the commercial validation gate.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scenarios: artifacts/data/scenario_summaries.csv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optimization can include a site with higher cannibalization: portfolio-level coverage and score trade-offs.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map: artifacts/figures/base_portfolio_map.png</a:t>
            </a:r>
          </a:p>
          <a:p xmlns:a="http://schemas.openxmlformats.org/drawingml/2006/main">
            <a:r>
              <a:t>- Local selections: artifacts/data/scenario_selections.csv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portfolio can be positive in aggregate while individual sites miss the three-year hurdle.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candidates: artifacts/data/candidate_scores.csv</a:t>
            </a:r>
          </a:p>
          <a:p xmlns:a="http://schemas.openxmlformats.org/drawingml/2006/main">
            <a:r>
              <a:t>- Local scenarios: artifacts/data/scenario_summaries.csv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warnings are retained because transparent scope mismatch is preferable to silently clipping generated points.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QA: artifacts/qa/data_quality_checks.csv</a:t>
            </a:r>
          </a:p>
          <a:p xmlns:a="http://schemas.openxmlformats.org/drawingml/2006/main">
            <a:r>
              <a:t>- Local runbook: docs/monitoring_runbook.md</a:t>
            </a:r>
          </a:p>
          <a:p xmlns:a="http://schemas.openxmlformats.org/drawingml/2006/main">
            <a:r>
              <a:t>- Local incident response: docs/incident_response.md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asking for review of the analytical assumptions and deliverables, not approval to publish or invest.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limitations: docs/limitations.md</a:t>
            </a:r>
          </a:p>
          <a:p xmlns:a="http://schemas.openxmlformats.org/drawingml/2006/main">
            <a:r>
              <a:t>- Local risk register: docs/risk_register.md</a:t>
            </a:r>
          </a:p>
          <a:p xmlns:a="http://schemas.openxmlformats.org/drawingml/2006/main">
            <a:r>
              <a:t>- Local project status: docs/review_handoff.md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4f18439cbe4b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3063c4fb3b43da" /><Relationship Type="http://schemas.openxmlformats.org/officeDocument/2006/relationships/slideLayout" Target="/ppt/slideLayouts/slideLayout1.xml" Id="R1452918aaa0443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52918aaa0443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96b929f2b84c74" /><Relationship Type="http://schemas.openxmlformats.org/officeDocument/2006/relationships/notesSlide" Target="/ppt/notesSlides/notesSlide1.xml" Id="R0a39a30e5ddf4b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6e0d5aa7194032" /><Relationship Type="http://schemas.openxmlformats.org/officeDocument/2006/relationships/notesSlide" Target="/ppt/notesSlides/notesSlide2.xml" Id="R0417bec4a67e40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4eab8f7a3b4b31" /><Relationship Type="http://schemas.openxmlformats.org/officeDocument/2006/relationships/image" Target="/ppt/media/image.png" Id="Rccf935dd616a4941" /><Relationship Type="http://schemas.openxmlformats.org/officeDocument/2006/relationships/notesSlide" Target="/ppt/notesSlides/notesSlide3.xml" Id="R76241e7528334b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4fac2614424387" /><Relationship Type="http://schemas.openxmlformats.org/officeDocument/2006/relationships/notesSlide" Target="/ppt/notesSlides/notesSlide4.xml" Id="Rea0e87e5e07a4b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7237c7cde84690" /><Relationship Type="http://schemas.openxmlformats.org/officeDocument/2006/relationships/notesSlide" Target="/ppt/notesSlides/notesSlide5.xml" Id="Rdf1c1c95ea0443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aa8255f6cc41d4" /><Relationship Type="http://schemas.openxmlformats.org/officeDocument/2006/relationships/image" Target="/ppt/media/image2.png" Id="R4c6927a349b646bc" /><Relationship Type="http://schemas.openxmlformats.org/officeDocument/2006/relationships/notesSlide" Target="/ppt/notesSlides/notesSlide6.xml" Id="Rf0864ab05a7b49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8d604f0dd3427c" /><Relationship Type="http://schemas.openxmlformats.org/officeDocument/2006/relationships/image" Target="/ppt/media/image3.png" Id="Red2164295aaf496b" /><Relationship Type="http://schemas.openxmlformats.org/officeDocument/2006/relationships/notesSlide" Target="/ppt/notesSlides/notesSlide7.xml" Id="Ra00446712f9040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75fe36d20a4eb1" /><Relationship Type="http://schemas.openxmlformats.org/officeDocument/2006/relationships/chart" Target="/ppt/slides/charts/chart1.xml" Id="R55c59687cc244f68" /><Relationship Type="http://schemas.openxmlformats.org/officeDocument/2006/relationships/notesSlide" Target="/ppt/notesSlides/notesSlide8.xml" Id="R6fc4d0df94a949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502116f3e34964" /><Relationship Type="http://schemas.openxmlformats.org/officeDocument/2006/relationships/image" Target="/ppt/media/image4.png" Id="R2d951e2911fc49d3" /><Relationship Type="http://schemas.openxmlformats.org/officeDocument/2006/relationships/notesSlide" Target="/ppt/notesSlides/notesSlide9.xml" Id="R21cb04def997465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5317abbfb247d7" /><Relationship Type="http://schemas.openxmlformats.org/officeDocument/2006/relationships/chart" Target="/ppt/slides/charts/chart2.xml" Id="Rca91c9eecfe84d81" /><Relationship Type="http://schemas.openxmlformats.org/officeDocument/2006/relationships/notesSlide" Target="/ppt/notesSlides/notesSlide10.xml" Id="R10b612bae0a44f7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151c2066d44115" /><Relationship Type="http://schemas.openxmlformats.org/officeDocument/2006/relationships/chart" Target="/ppt/slides/charts/chart3.xml" Id="R204de175c715423c" /><Relationship Type="http://schemas.openxmlformats.org/officeDocument/2006/relationships/image" Target="/ppt/media/image5.png" Id="R84dc3314012d44dc" /><Relationship Type="http://schemas.openxmlformats.org/officeDocument/2006/relationships/notesSlide" Target="/ppt/notesSlides/notesSlide11.xml" Id="R3d7b71d47f564d3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8e0aaafd404ad0" /><Relationship Type="http://schemas.openxmlformats.org/officeDocument/2006/relationships/chart" Target="/ppt/slides/charts/chart4.xml" Id="Rbd464f17d3ee4d03" /><Relationship Type="http://schemas.openxmlformats.org/officeDocument/2006/relationships/notesSlide" Target="/ppt/notesSlides/notesSlide12.xml" Id="Rab228c65a0024ed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7057d3219847d0" /><Relationship Type="http://schemas.openxmlformats.org/officeDocument/2006/relationships/notesSlide" Target="/ppt/notesSlides/notesSlide13.xml" Id="R1a137cd0bcfd438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fa1b9fd0974a76" /><Relationship Type="http://schemas.openxmlformats.org/officeDocument/2006/relationships/chart" Target="/ppt/slides/charts/chart5.xml" Id="R48728c8556044e98" /><Relationship Type="http://schemas.openxmlformats.org/officeDocument/2006/relationships/notesSlide" Target="/ppt/notesSlides/notesSlide14.xml" Id="R3dac580f2d20497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7d31f5ed3f4a8a" /><Relationship Type="http://schemas.openxmlformats.org/officeDocument/2006/relationships/image" Target="/ppt/media/image6.png" Id="R6be689e523304c77" /><Relationship Type="http://schemas.openxmlformats.org/officeDocument/2006/relationships/notesSlide" Target="/ppt/notesSlides/notesSlide15.xml" Id="R0cd5c800642f46e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e7da4b39b5450b" /><Relationship Type="http://schemas.openxmlformats.org/officeDocument/2006/relationships/chart" Target="/ppt/slides/charts/chart6.xml" Id="R20c9e7e1f5d34718" /><Relationship Type="http://schemas.openxmlformats.org/officeDocument/2006/relationships/notesSlide" Target="/ppt/notesSlides/notesSlide16.xml" Id="R46b84592322c480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1f9898f7eb40ca" /><Relationship Type="http://schemas.openxmlformats.org/officeDocument/2006/relationships/notesSlide" Target="/ppt/notesSlides/notesSlide17.xml" Id="R5a94cd51f1fe474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ecb36c56154bd0" /><Relationship Type="http://schemas.openxmlformats.org/officeDocument/2006/relationships/notesSlide" Target="/ppt/notesSlides/notesSlide18.xml" Id="Rd950f73cc6094be6" /></Relationships>
</file>

<file path=ppt/slides/charts/chart1.xml><?xml version="1.0" encoding="utf-8"?>
<c:chartSpace xmlns:c="http://schemas.openxmlformats.org/drawingml/2006/chart">
  <c:lang val="en-US"/>
  <c:chart>
    <c:plotArea>
      <c:scatterChart>
        <c:scatterStyle val="marker"/>
        <c:ser>
          <c:idx val="0"/>
          <c:order val="0"/>
          <c:tx>
            <c:v>Candidate sites</c:v>
          </c:tx>
          <c:spPr>
            <a:solidFill xmlns:a="http://schemas.openxmlformats.org/drawingml/2006/main">
              <a:srgbClr val="2A9D8F"/>
            </a:solidFill>
          </c:spPr>
          <c:marker>
            <c:symbol val="circle"/>
            <c:size val="8"/>
          </c:marker>
          <c:xVal>
            <c:numLit>
              <c:formatCode>General</c:formatCode>
              <c:ptCount val="24"/>
              <c:pt idx="0">
                <c:v>0.010471</c:v>
              </c:pt>
              <c:pt idx="1">
                <c:v>0.018037</c:v>
              </c:pt>
              <c:pt idx="2">
                <c:v>0.02556</c:v>
              </c:pt>
              <c:pt idx="3">
                <c:v>0.348754</c:v>
              </c:pt>
              <c:pt idx="4">
                <c:v>0.01029</c:v>
              </c:pt>
              <c:pt idx="5">
                <c:v>0.609962</c:v>
              </c:pt>
              <c:pt idx="6">
                <c:v>0.535299</c:v>
              </c:pt>
              <c:pt idx="7">
                <c:v>0.023205</c:v>
              </c:pt>
              <c:pt idx="8">
                <c:v>0.00302</c:v>
              </c:pt>
              <c:pt idx="9">
                <c:v>0.005417</c:v>
              </c:pt>
              <c:pt idx="10">
                <c:v>0.001689</c:v>
              </c:pt>
              <c:pt idx="11">
                <c:v>0.000437</c:v>
              </c:pt>
              <c:pt idx="12">
                <c:v>0.454724</c:v>
              </c:pt>
              <c:pt idx="13">
                <c:v>0.086946</c:v>
              </c:pt>
              <c:pt idx="14">
                <c:v>0.312443</c:v>
              </c:pt>
              <c:pt idx="15">
                <c:v>0.220433</c:v>
              </c:pt>
              <c:pt idx="16">
                <c:v>0.678861</c:v>
              </c:pt>
              <c:pt idx="17">
                <c:v>0.005367</c:v>
              </c:pt>
              <c:pt idx="18">
                <c:v>0.929426</c:v>
              </c:pt>
              <c:pt idx="19">
                <c:v>0.002294</c:v>
              </c:pt>
              <c:pt idx="20">
                <c:v>0.019472</c:v>
              </c:pt>
              <c:pt idx="21">
                <c:v>0.000377</c:v>
              </c:pt>
              <c:pt idx="22">
                <c:v>0.8502</c:v>
              </c:pt>
              <c:pt idx="23">
                <c:v>0</c:v>
              </c:pt>
            </c:numLit>
          </c:xVal>
          <c:yVal>
            <c:numLit>
              <c:formatCode>General</c:formatCode>
              <c:ptCount val="24"/>
              <c:pt idx="0">
                <c:v>81.236</c:v>
              </c:pt>
              <c:pt idx="1">
                <c:v>80.521</c:v>
              </c:pt>
              <c:pt idx="2">
                <c:v>80.095</c:v>
              </c:pt>
              <c:pt idx="3">
                <c:v>78.88</c:v>
              </c:pt>
              <c:pt idx="4">
                <c:v>78.402</c:v>
              </c:pt>
              <c:pt idx="5">
                <c:v>77.712</c:v>
              </c:pt>
              <c:pt idx="6">
                <c:v>74.67</c:v>
              </c:pt>
              <c:pt idx="7">
                <c:v>74.183</c:v>
              </c:pt>
              <c:pt idx="8">
                <c:v>74.17</c:v>
              </c:pt>
              <c:pt idx="9">
                <c:v>73.694</c:v>
              </c:pt>
              <c:pt idx="10">
                <c:v>72.787</c:v>
              </c:pt>
              <c:pt idx="11">
                <c:v>72.693</c:v>
              </c:pt>
              <c:pt idx="12">
                <c:v>72.524</c:v>
              </c:pt>
              <c:pt idx="13">
                <c:v>72.326</c:v>
              </c:pt>
              <c:pt idx="14">
                <c:v>68.818</c:v>
              </c:pt>
              <c:pt idx="15">
                <c:v>67.701</c:v>
              </c:pt>
              <c:pt idx="16">
                <c:v>66.916</c:v>
              </c:pt>
              <c:pt idx="17">
                <c:v>57.022</c:v>
              </c:pt>
              <c:pt idx="18">
                <c:v>55.255</c:v>
              </c:pt>
              <c:pt idx="19">
                <c:v>54.895</c:v>
              </c:pt>
              <c:pt idx="20">
                <c:v>51.904</c:v>
              </c:pt>
              <c:pt idx="21">
                <c:v>49.786</c:v>
              </c:pt>
              <c:pt idx="22">
                <c:v>41.205</c:v>
              </c:pt>
              <c:pt idx="23">
                <c:v>18.75</c:v>
              </c:pt>
            </c:numLit>
          </c:yVal>
        </c:ser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8D8DC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Location score</a:t>
                </a:r>
              </a:p>
            </c:rich>
          </c:tx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</c:valAx>
      <c:valAx>
        <c:axId val="48650112"/>
        <c:scaling>
          <c:orientation val="minMax"/>
          <c:max val="1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C8D8DC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Cannibalization risk</a:t>
                </a:r>
              </a:p>
            </c:rich>
          </c:tx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stacked"/>
        <c:varyColors val="0"/>
        <c:ser>
          <c:idx val="0"/>
          <c:order val="0"/>
          <c:tx>
            <c:v>Positive</c:v>
          </c:tx>
          <c:spPr>
            <a:solidFill xmlns:a="http://schemas.openxmlformats.org/drawingml/2006/main">
              <a:srgbClr val="2A9D8F"/>
            </a:solidFill>
          </c:spPr>
          <c:cat>
            <c:strLit>
              <c:ptCount val="7"/>
              <c:pt idx="0">
                <c:v>income index</c:v>
              </c:pt>
              <c:pt idx="1">
                <c:v>poi density 2km</c:v>
              </c:pt>
              <c:pt idx="2">
                <c:v>transit index</c:v>
              </c:pt>
              <c:pt idx="3">
                <c:v>competitor density 3km</c:v>
              </c:pt>
              <c:pt idx="4">
                <c:v>cannibalization risk</c:v>
              </c:pt>
              <c:pt idx="5">
                <c:v>walkability index</c:v>
              </c:pt>
              <c:pt idx="6">
                <c:v>accessible pop drive 10</c:v>
              </c:pt>
            </c:strLit>
          </c:cat>
          <c:val>
            <c:numLit>
              <c:formatCode>General</c:formatCode>
              <c:ptCount val="7"/>
              <c:pt idx="0">
                <c:v>0.13768467976350568</c:v>
              </c:pt>
              <c:pt idx="1">
                <c:v>0.14101920824132766</c:v>
              </c:pt>
              <c:pt idx="2">
                <c:v>0.25325916980889757</c:v>
              </c:pt>
              <c:pt idx="3">
                <c:v>0.4143138640541885</c:v>
              </c:pt>
              <c:pt idx="4">
                <c:v>0</c:v>
              </c:pt>
              <c:pt idx="5">
                <c:v>3.096725033951708</c:v>
              </c:pt>
              <c:pt idx="6">
                <c:v>17.406748726362398</c:v>
              </c:pt>
            </c:numLit>
          </c:val>
        </c:ser>
        <c:ser>
          <c:idx val="1"/>
          <c:order val="1"/>
          <c:tx>
            <c:v>Negative</c:v>
          </c:tx>
          <c:spPr>
            <a:solidFill xmlns:a="http://schemas.openxmlformats.org/drawingml/2006/main">
              <a:srgbClr val="E76F51"/>
            </a:solidFill>
          </c:spPr>
          <c:invertIfNegative val="0"/>
          <c:cat>
            <c:strLit>
              <c:ptCount val="7"/>
              <c:pt idx="0">
                <c:v>income index</c:v>
              </c:pt>
              <c:pt idx="1">
                <c:v>poi density 2km</c:v>
              </c:pt>
              <c:pt idx="2">
                <c:v>transit index</c:v>
              </c:pt>
              <c:pt idx="3">
                <c:v>competitor density 3km</c:v>
              </c:pt>
              <c:pt idx="4">
                <c:v>cannibalization risk</c:v>
              </c:pt>
              <c:pt idx="5">
                <c:v>walkability index</c:v>
              </c:pt>
              <c:pt idx="6">
                <c:v>accessible pop drive 10</c:v>
              </c:pt>
            </c:strLit>
          </c:cat>
          <c:val>
            <c:numLit>
              <c:formatCode>General</c:formatCode>
              <c:ptCount val="7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-1.1575905860771953</c:v>
              </c:pt>
              <c:pt idx="5">
                <c:v>0</c:v>
              </c:pt>
              <c:pt idx="6">
                <c:v>0</c:v>
              </c:pt>
            </c:numLit>
          </c:val>
        </c:ser>
        <c:gapWidth val="4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8D8DC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SHAP contribution (TRY m)</a:t>
                </a:r>
              </a:p>
            </c:rich>
          </c:tx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7324D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607D8B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Weight</c:v>
          </c:tx>
          <c:spPr>
            <a:solidFill xmlns:a="http://schemas.openxmlformats.org/drawingml/2006/main">
              <a:srgbClr val="2A9D8F"/>
            </a:solidFill>
          </c:spPr>
          <c:cat>
            <c:strLit>
              <c:ptCount val="8"/>
              <c:pt idx="0">
                <c:v>market potential</c:v>
              </c:pt>
              <c:pt idx="1">
                <c:v>accessibility</c:v>
              </c:pt>
              <c:pt idx="2">
                <c:v>commercial attraction</c:v>
              </c:pt>
              <c:pt idx="3">
                <c:v>white space</c:v>
              </c:pt>
              <c:pt idx="4">
                <c:v>cost efficiency</c:v>
              </c:pt>
              <c:pt idx="5">
                <c:v>cannibalization resilience</c:v>
              </c:pt>
              <c:pt idx="6">
                <c:v>profitability</c:v>
              </c:pt>
              <c:pt idx="7">
                <c:v>delivery confidence</c:v>
              </c:pt>
            </c:strLit>
          </c:cat>
          <c:val>
            <c:numLit>
              <c:formatCode>General</c:formatCode>
              <c:ptCount val="8"/>
              <c:pt idx="0">
                <c:v>22.999999999999993</c:v>
              </c:pt>
              <c:pt idx="1">
                <c:v>15.00000000000002</c:v>
              </c:pt>
              <c:pt idx="2">
                <c:v>11.000000000000004</c:v>
              </c:pt>
              <c:pt idx="3">
                <c:v>12.000000000000002</c:v>
              </c:pt>
              <c:pt idx="4">
                <c:v>10.000000000000002</c:v>
              </c:pt>
              <c:pt idx="5">
                <c:v>11.000000000000004</c:v>
              </c:pt>
              <c:pt idx="6">
                <c:v>13</c:v>
              </c:pt>
              <c:pt idx="7">
                <c:v>5.000000000000001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0B395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Weight (%)</a:t>
                </a:r>
              </a:p>
            </c:rich>
          </c:tx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7324D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Top-five probability</c:v>
          </c:tx>
          <c:spPr>
            <a:solidFill xmlns:a="http://schemas.openxmlformats.org/drawingml/2006/main">
              <a:srgbClr val="2A9D8F"/>
            </a:solidFill>
          </c:spPr>
          <c:cat>
            <c:strLit>
              <c:ptCount val="6"/>
              <c:pt idx="0">
                <c:v>C24</c:v>
              </c:pt>
              <c:pt idx="1">
                <c:v>C18</c:v>
              </c:pt>
              <c:pt idx="2">
                <c:v>C17</c:v>
              </c:pt>
              <c:pt idx="3">
                <c:v>C07</c:v>
              </c:pt>
              <c:pt idx="4">
                <c:v>C03</c:v>
              </c:pt>
              <c:pt idx="5">
                <c:v>C05</c:v>
              </c:pt>
            </c:strLit>
          </c:cat>
          <c:val>
            <c:numLit>
              <c:formatCode>0</c:formatCode>
              <c:ptCount val="6"/>
              <c:pt idx="0">
                <c:v>100</c:v>
              </c:pt>
              <c:pt idx="1">
                <c:v>97.1</c:v>
              </c:pt>
              <c:pt idx="2">
                <c:v>95.7</c:v>
              </c:pt>
              <c:pt idx="3">
                <c:v>94.3</c:v>
              </c:pt>
              <c:pt idx="4">
                <c:v>55.5</c:v>
              </c:pt>
              <c:pt idx="5">
                <c:v>46.8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0B395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24D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8D8DC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Top-five probability (%)</a:t>
                </a:r>
              </a:p>
            </c:rich>
          </c:tx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Incremental population</c:v>
          </c:tx>
          <c:spPr>
            <a:solidFill xmlns:a="http://schemas.openxmlformats.org/drawingml/2006/main">
              <a:srgbClr val="3A86FF"/>
            </a:solidFill>
          </c:spPr>
          <c:cat>
            <c:strLit>
              <c:ptCount val="3"/>
              <c:pt idx="0">
                <c:v>Pessimistic</c:v>
              </c:pt>
              <c:pt idx="1">
                <c:v>Base</c:v>
              </c:pt>
              <c:pt idx="2">
                <c:v>Optimistic</c:v>
              </c:pt>
            </c:strLit>
          </c:cat>
          <c:val>
            <c:numLit>
              <c:formatCode>#,##0</c:formatCode>
              <c:ptCount val="3"/>
              <c:pt idx="0">
                <c:v>908890</c:v>
              </c:pt>
              <c:pt idx="1">
                <c:v>1329291</c:v>
              </c:pt>
              <c:pt idx="2">
                <c:v>2068792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0B395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8D8DC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1"/>
        <c:ser>
          <c:idx val="0"/>
          <c:order val="0"/>
          <c:tx>
            <c:v>Three-year ROI</c:v>
          </c:tx>
          <c:spPr>
            <a:solidFill xmlns:a="http://schemas.openxmlformats.org/drawingml/2006/main">
              <a:srgbClr val="F4A261"/>
            </a:solidFill>
          </c:spPr>
          <c:invertIfNegative val="0"/>
          <c:dPt>
            <c:idx val="0"/>
            <c:spPr>
              <a:solidFill xmlns:a="http://schemas.openxmlformats.org/drawingml/2006/main">
                <a:srgbClr val="E76F51"/>
              </a:solidFill>
            </c:spPr>
          </c:dPt>
          <c:dPt>
            <c:idx val="1"/>
            <c:spPr>
              <a:solidFill xmlns:a="http://schemas.openxmlformats.org/drawingml/2006/main">
                <a:srgbClr val="2A9D8F"/>
              </a:solidFill>
            </c:spPr>
          </c:dPt>
          <c:dPt>
            <c:idx val="2"/>
            <c:spPr>
              <a:solidFill xmlns:a="http://schemas.openxmlformats.org/drawingml/2006/main">
                <a:srgbClr val="E76F51"/>
              </a:solidFill>
            </c:spPr>
          </c:dPt>
          <c:dPt>
            <c:idx val="3"/>
            <c:spPr>
              <a:solidFill xmlns:a="http://schemas.openxmlformats.org/drawingml/2006/main">
                <a:srgbClr val="E76F51"/>
              </a:solidFill>
            </c:spPr>
          </c:dPt>
          <c:cat>
            <c:strLit>
              <c:ptCount val="4"/>
              <c:pt idx="0">
                <c:v>C24</c:v>
              </c:pt>
              <c:pt idx="1">
                <c:v>C18</c:v>
              </c:pt>
              <c:pt idx="2">
                <c:v>C17</c:v>
              </c:pt>
              <c:pt idx="3">
                <c:v>C07</c:v>
              </c:pt>
            </c:strLit>
          </c:cat>
          <c:val>
            <c:numLit>
              <c:formatCode>0%</c:formatCode>
              <c:ptCount val="4"/>
              <c:pt idx="0">
                <c:v>-0.160026</c:v>
              </c:pt>
              <c:pt idx="1">
                <c:v>0.146798</c:v>
              </c:pt>
              <c:pt idx="2">
                <c:v>-0.200692</c:v>
              </c:pt>
              <c:pt idx="3">
                <c:v>-0.066453</c:v>
              </c:pt>
            </c:numLit>
          </c:val>
        </c:ser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0.25"/>
          <c:min val="-0.3"/>
        </c:scaling>
        <c:delete val="0"/>
        <c:axPos val="l"/>
        <c:majorGridlines>
          <c:spPr>
            <a:ln xmlns:a="http://schemas.openxmlformats.org/drawingml/2006/main" w="9525">
              <a:solidFill>
                <a:srgbClr val="C8D8DC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395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0BC40B-9E6D-428A-B0D5-3203DD94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A9D8F"/>
                </a:solidFill>
              </a:defRPr>
            </a:pPr>
            <a:r>
              <a:rPr sz="1200" b="1" i="0">
                <a:solidFill>
                  <a:srgbClr val="2A9D8F"/>
                </a:solidFill>
              </a:rPr>
              <a:t>GEOSPATIAL DECISION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BB736F-4A1E-45B4-A373-63B3D1D6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8096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FFFFFF"/>
                </a:solidFill>
              </a:defRPr>
            </a:pPr>
            <a:r>
              <a:rPr sz="4200" b="1" i="0">
                <a:solidFill>
                  <a:srgbClr val="FFFFFF"/>
                </a:solidFill>
              </a:rPr>
              <a:t>Istanbul Site Selection</a:t>
            </a:r>
          </a:p>
          <a:p xmlns:a="http://schemas.openxmlformats.org/drawingml/2006/main">
            <a:pPr algn="l">
              <a:defRPr sz="4200" b="1" i="0">
                <a:solidFill>
                  <a:srgbClr val="FFFFFF"/>
                </a:solidFill>
              </a:defRPr>
            </a:pPr>
            <a:r>
              <a:rPr sz="4200" b="1" i="0">
                <a:solidFill>
                  <a:srgbClr val="FFFFFF"/>
                </a:solidFill>
              </a:rPr>
              <a:t>&amp; Market Expansion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ED6340-6490-4CF1-98E4-C33E7FD9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DDEBEE"/>
                </a:solidFill>
              </a:defRPr>
            </a:pPr>
            <a:r>
              <a:rPr sz="1800" b="0" i="0">
                <a:solidFill>
                  <a:srgbClr val="DDEBEE"/>
                </a:solidFill>
              </a:rPr>
              <a:t>Network accessibility, demand prediction, explainable scoring and constrained portfolio optimization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20CDBC-D44E-43EC-8013-9F49918D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16002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37FEDC-1C24-4371-8C3B-07675F11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863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MarmaraMart • Executive decision-support deck • 29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94086-611A-4AB6-BC81-B877292E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531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2A9D8F"/>
                </a:solidFill>
              </a:defRPr>
            </a:pPr>
            <a:r>
              <a:rPr sz="1050" b="0" i="0">
                <a:solidFill>
                  <a:srgbClr val="2A9D8F"/>
                </a:solidFill>
              </a:rPr>
              <a:t>Deterministic synthetic commercial data</a:t>
            </a:r>
          </a:p>
        </p:txBody>
      </p:sp>
    </p:spTree>
    <p:extLst>
      <p:ext uri="{BB962C8B-B14F-4D97-AF65-F5344CB8AC3E}">
        <p14:creationId xmlns:p14="http://schemas.microsoft.com/office/powerpoint/2010/main" val="2561808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F38C0E-C31B-4218-874E-3D93B8AE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3954"/>
                </a:solidFill>
              </a:defRPr>
            </a:pPr>
            <a:r>
              <a:rPr sz="2700" b="1" i="0">
                <a:solidFill>
                  <a:srgbClr val="0B3954"/>
                </a:solidFill>
              </a:rPr>
              <a:t>The base scenario funds four complementary sites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C9EC95-C346-43FC-8DBA-6A009256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123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C27145-030E-4780-8301-8DE0AD07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07D8B"/>
                </a:solidFill>
              </a:defRPr>
            </a:pPr>
            <a:r>
              <a:rPr sz="1500" b="0" i="0">
                <a:solidFill>
                  <a:srgbClr val="607D8B"/>
                </a:solidFill>
              </a:rPr>
              <a:t>The optimized portfolio stays within budget and expands network coverage, but site-level economics still require validation.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C5C71A-9D5B-4060-9F60-46DF3D80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07D8B"/>
                </a:solidFill>
              </a:defRPr>
            </a:pPr>
            <a:r>
              <a:rPr sz="825" b="0" i="0">
                <a:solidFill>
                  <a:srgbClr val="607D8B"/>
                </a:solidFill>
              </a:rPr>
              <a:t>Synthetic decision support • Human review required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7CD792-A639-4FD2-BCB8-45519F75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B3954"/>
                </a:solidFill>
              </a:defRPr>
            </a:pPr>
            <a:r>
              <a:rPr sz="900" b="1" i="0">
                <a:solidFill>
                  <a:srgbClr val="0B3954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C24042-FCC4-42AA-986E-F8416593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3954"/>
                </a:solidFill>
              </a:defRPr>
            </a:pPr>
            <a:r>
              <a:rPr sz="3000" b="1" i="0">
                <a:solidFill>
                  <a:srgbClr val="0B3954"/>
                </a:solidFill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F671EF-3BC0-441B-82A7-5B58D4BD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39224D-406C-471E-B553-937E5E0E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3845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07D8B"/>
                </a:solidFill>
              </a:defRPr>
            </a:pPr>
            <a:r>
              <a:rPr sz="1200" b="0" i="0">
                <a:solidFill>
                  <a:srgbClr val="607D8B"/>
                </a:solidFill>
              </a:rPr>
              <a:t>new stores in the base portfolio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4FA57E-FBB4-45B4-91CE-EDE95E48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145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3954"/>
                </a:solidFill>
              </a:defRPr>
            </a:pPr>
            <a:r>
              <a:rPr sz="3000" b="1" i="0">
                <a:solidFill>
                  <a:srgbClr val="0B3954"/>
                </a:solidFill>
              </a:rPr>
              <a:t>TRY 93.4m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17AF89-CFA7-4A4B-982E-E9D7EF8F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0510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7BB0C6-55EB-4F90-B870-B2B91640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384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07D8B"/>
                </a:solidFill>
              </a:defRPr>
            </a:pPr>
            <a:r>
              <a:rPr sz="1200" b="0" i="0">
                <a:solidFill>
                  <a:srgbClr val="607D8B"/>
                </a:solidFill>
              </a:rPr>
              <a:t>of TRY 110.0m budget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178488-EA7D-416F-B014-E7508528B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145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3954"/>
                </a:solidFill>
              </a:defRPr>
            </a:pPr>
            <a:r>
              <a:rPr sz="3000" b="1" i="0">
                <a:solidFill>
                  <a:srgbClr val="0B3954"/>
                </a:solidFill>
              </a:rPr>
              <a:t>1,329,291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455AA8-FA5C-4D68-BDA3-DAB7CFCD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86FF"/>
          </a:solidFill>
          <a:ln xmlns:a="http://schemas.openxmlformats.org/drawingml/2006/main" w="0">
            <a:solidFill>
              <a:srgbClr val="3A86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AE6233-E65C-4A45-8108-FD7BD503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384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07D8B"/>
                </a:solidFill>
              </a:defRPr>
            </a:pPr>
            <a:r>
              <a:rPr sz="1200" b="0" i="0">
                <a:solidFill>
                  <a:srgbClr val="607D8B"/>
                </a:solidFill>
              </a:rPr>
              <a:t>incremental people in 10-minute drive catchments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F85111-1060-4B37-8A98-5C1B856F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145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3954"/>
                </a:solidFill>
              </a:defRPr>
            </a:pPr>
            <a:r>
              <a:rPr sz="3000" b="1" i="0">
                <a:solidFill>
                  <a:srgbClr val="0B3954"/>
                </a:solidFill>
              </a:rPr>
              <a:t>23.1%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FB3F93-B74D-42F6-BE6B-E6DC50F7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0510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29FE7A-4DE9-454B-A418-E3AC68BF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384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07D8B"/>
                </a:solidFill>
              </a:defRPr>
            </a:pPr>
            <a:r>
              <a:rPr sz="1200" b="0" i="0">
                <a:solidFill>
                  <a:srgbClr val="607D8B"/>
                </a:solidFill>
              </a:rPr>
              <a:t>total metro population covered by existing + selected stores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314E25-45E5-4993-8B7A-27459FBF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1009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B3954"/>
                </a:solidFill>
              </a:defRPr>
            </a:pPr>
            <a:r>
              <a:rPr sz="1950" b="1" i="0">
                <a:solidFill>
                  <a:srgbClr val="0B3954"/>
                </a:solidFill>
              </a:rPr>
              <a:t>Ikitelli Industry leads at 81.2/100; Sultanbeyli is the only base-selected site with positive three-year ROI in the controlled assumptions.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09B76E-ECD7-4212-8B65-2BC57C00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864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9A6391-BDFA-4A41-9345-C7062D22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78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E76F51"/>
                </a:solidFill>
              </a:defRPr>
            </a:pPr>
            <a:r>
              <a:rPr sz="1500" b="1" i="0">
                <a:solidFill>
                  <a:srgbClr val="E76F51"/>
                </a:solidFill>
              </a:rPr>
              <a:t>Decision implication: approve field validation and commercial diligence—not capital commitment.</a:t>
            </a:r>
          </a:p>
        </p:txBody>
      </p:sp>
    </p:spTree>
    <p:extLst>
      <p:ext uri="{BB962C8B-B14F-4D97-AF65-F5344CB8AC3E}">
        <p14:creationId xmlns:p14="http://schemas.microsoft.com/office/powerpoint/2010/main" val="6588378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31EE4D-F418-46C0-BC78-B104B459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3954"/>
                </a:solidFill>
              </a:defRPr>
            </a:pPr>
            <a:r>
              <a:rPr sz="2700" b="1" i="0">
                <a:solidFill>
                  <a:srgbClr val="0B3954"/>
                </a:solidFill>
              </a:rPr>
              <a:t>A city-scale microzone model replaces district averages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FF3686-01ED-450C-B39D-9068FAE5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123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4CE4EB-426A-415E-9718-3B91AE95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07D8B"/>
                </a:solidFill>
              </a:defRPr>
            </a:pPr>
            <a:r>
              <a:rPr sz="1500" b="0" i="0">
                <a:solidFill>
                  <a:srgbClr val="607D8B"/>
                </a:solidFill>
              </a:rPr>
              <a:t>5,965 H3 cells preserve local differences in demand, access, cost and competitive pressure.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731F1D-53CA-494E-B539-9233314A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07D8B"/>
                </a:solidFill>
              </a:defRPr>
            </a:pPr>
            <a:r>
              <a:rPr sz="825" b="0" i="0">
                <a:solidFill>
                  <a:srgbClr val="607D8B"/>
                </a:solidFill>
              </a:rPr>
              <a:t>Synthetic decision support • Human review required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A2841D-D9CD-4595-B6CC-97F75E30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B3954"/>
                </a:solidFill>
              </a:defRPr>
            </a:pPr>
            <a:r>
              <a:rPr sz="900" b="1" i="0">
                <a:solidFill>
                  <a:srgbClr val="0B3954"/>
                </a:solidFill>
              </a:rPr>
              <a:t>03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f935dd616a4941"/>
          <a:stretch xmlns:a="http://schemas.openxmlformats.org/drawingml/2006/main"/>
        </p:blipFill>
        <p:spPr>
          <a:xfrm xmlns:a="http://schemas.openxmlformats.org/drawingml/2006/main">
            <a:off x="571500" y="1845171"/>
            <a:ext cx="7334250" cy="398680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47A30F-8ADF-4492-B3EC-8AFF974B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002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3954"/>
                </a:solidFill>
              </a:defRPr>
            </a:pPr>
            <a:r>
              <a:rPr sz="3000" b="1" i="0">
                <a:solidFill>
                  <a:srgbClr val="0B3954"/>
                </a:solidFill>
              </a:rPr>
              <a:t>5,965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1E07FA-25C2-4B66-BA0E-96D13E52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9080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5B2737-9C2E-4455-8353-7F132FDA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7241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07D8B"/>
                </a:solidFill>
              </a:defRPr>
            </a:pPr>
            <a:r>
              <a:rPr sz="1200" b="0" i="0">
                <a:solidFill>
                  <a:srgbClr val="607D8B"/>
                </a:solidFill>
              </a:rPr>
              <a:t>H3 resolution-8 microzones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DA5246-2FD8-4D77-AF7E-BF86168E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147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3954"/>
                </a:solidFill>
              </a:defRPr>
            </a:pPr>
            <a:r>
              <a:rPr sz="3000" b="1" i="0">
                <a:solidFill>
                  <a:srgbClr val="0B3954"/>
                </a:solidFill>
              </a:rPr>
              <a:t>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1C8B92-81E0-40E1-8AE7-7FD7D69E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90525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6EE460-B06C-44FE-9E14-27112821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386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07D8B"/>
                </a:solidFill>
              </a:defRPr>
            </a:pPr>
            <a:r>
              <a:rPr sz="1200" b="0" i="0">
                <a:solidFill>
                  <a:srgbClr val="607D8B"/>
                </a:solidFill>
              </a:rPr>
              <a:t>candidate sites ranked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3653DE-FC16-4F60-AAD4-9F178389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6291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3954"/>
                </a:solidFill>
              </a:defRPr>
            </a:pPr>
            <a:r>
              <a:rPr sz="3000" b="1" i="0">
                <a:solidFill>
                  <a:srgbClr val="0B3954"/>
                </a:solidFill>
              </a:rPr>
              <a:t>10 / 96 / 720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9F01B7-8E9A-43DE-80EB-B478496B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21970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86FF"/>
          </a:solidFill>
          <a:ln xmlns:a="http://schemas.openxmlformats.org/drawingml/2006/main" w="0">
            <a:solidFill>
              <a:srgbClr val="3A86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823877-E81E-4F89-BB40-338869D2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3530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07D8B"/>
                </a:solidFill>
              </a:defRPr>
            </a:pPr>
            <a:r>
              <a:rPr sz="1200" b="0" i="0">
                <a:solidFill>
                  <a:srgbClr val="607D8B"/>
                </a:solidFill>
              </a:rPr>
              <a:t>existing stores / competitors / POIs</a:t>
            </a:r>
          </a:p>
        </p:txBody>
      </p:sp>
    </p:spTree>
    <p:extLst>
      <p:ext uri="{BB962C8B-B14F-4D97-AF65-F5344CB8AC3E}">
        <p14:creationId xmlns:p14="http://schemas.microsoft.com/office/powerpoint/2010/main" val="8187548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3C3E18-7F2C-40A5-ABD2-C75E769D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3954"/>
                </a:solidFill>
              </a:defRPr>
            </a:pPr>
            <a:r>
              <a:rPr sz="2700" b="1" i="0">
                <a:solidFill>
                  <a:srgbClr val="0B3954"/>
                </a:solidFill>
              </a:rPr>
              <a:t>Four layers turn geography into an auditable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084243-F81F-4361-B4A9-2D401903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123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10E0F9-0D73-4E74-9296-4DD30C79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07D8B"/>
                </a:solidFill>
              </a:defRPr>
            </a:pPr>
            <a:r>
              <a:rPr sz="1500" b="0" i="0">
                <a:solidFill>
                  <a:srgbClr val="607D8B"/>
                </a:solidFill>
              </a:rPr>
              <a:t>Every output is traceable from source assumptions through network, model, score and optimization artifacts.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F7F0B3-A1A6-4B0D-BECA-32164009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07D8B"/>
                </a:solidFill>
              </a:defRPr>
            </a:pPr>
            <a:r>
              <a:rPr sz="825" b="0" i="0">
                <a:solidFill>
                  <a:srgbClr val="607D8B"/>
                </a:solidFill>
              </a:rPr>
              <a:t>Synthetic decision support • Human review required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D4CF7E-A57D-4AFD-88AC-E39B5D15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B3954"/>
                </a:solidFill>
              </a:defRPr>
            </a:pPr>
            <a:r>
              <a:rPr sz="900" b="1" i="0">
                <a:solidFill>
                  <a:srgbClr val="0B3954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4BF11C-18D8-43C5-881F-3DE3B6E0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2381250" cy="26289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8D8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589645-CD2B-437B-8E18-4C57077A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A9D8F"/>
                </a:solidFill>
              </a:defRPr>
            </a:pPr>
            <a:r>
              <a:rPr sz="1350" b="1" i="0">
                <a:solidFill>
                  <a:srgbClr val="2A9D8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88B34E-A869-4F7E-8D18-D71E582A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3954"/>
                </a:solidFill>
              </a:defRPr>
            </a:pPr>
            <a:r>
              <a:rPr sz="1800" b="1" i="0">
                <a:solidFill>
                  <a:srgbClr val="0B3954"/>
                </a:solidFill>
              </a:rPr>
              <a:t>Spatial foundation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795214-30FA-4F8C-84B2-9FEBBCBC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1952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324D"/>
                </a:solidFill>
              </a:defRPr>
            </a:pPr>
            <a:r>
              <a:rPr sz="1275" b="0" i="0">
                <a:solidFill>
                  <a:srgbClr val="17324D"/>
                </a:solidFill>
              </a:rPr>
              <a:t>WGS84 storage</a:t>
            </a:r>
          </a:p>
          <a:p xmlns:a="http://schemas.openxmlformats.org/drawingml/2006/main">
            <a:pPr algn="l">
              <a:defRPr sz="1275" b="0" i="0">
                <a:solidFill>
                  <a:srgbClr val="17324D"/>
                </a:solidFill>
              </a:defRPr>
            </a:pPr>
            <a:r>
              <a:rPr sz="1275" b="0" i="0">
                <a:solidFill>
                  <a:srgbClr val="17324D"/>
                </a:solidFill>
              </a:rPr>
              <a:t>EPSG:32635 metrics</a:t>
            </a:r>
          </a:p>
          <a:p xmlns:a="http://schemas.openxmlformats.org/drawingml/2006/main">
            <a:pPr algn="l">
              <a:defRPr sz="1275" b="0" i="0">
                <a:solidFill>
                  <a:srgbClr val="17324D"/>
                </a:solidFill>
              </a:defRPr>
            </a:pPr>
            <a:r>
              <a:rPr sz="1275" b="0" i="0">
                <a:solidFill>
                  <a:srgbClr val="17324D"/>
                </a:solidFill>
              </a:rPr>
              <a:t>H3 microzones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6F10FB-1317-401F-B650-A5264947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861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F4A261"/>
                </a:solidFill>
              </a:defRPr>
            </a:pPr>
            <a:r>
              <a:rPr sz="2250" b="1" i="0">
                <a:solidFill>
                  <a:srgbClr val="F4A261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2E57C9-22F8-444A-AD6E-980CDCF1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14550"/>
            <a:ext cx="2381250" cy="26289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AF2F3"/>
          </a:solidFill>
          <a:ln xmlns:a="http://schemas.openxmlformats.org/drawingml/2006/main" w="14288">
            <a:solidFill>
              <a:srgbClr val="C8D8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6380A6-1B1A-45F7-BF6C-D8A7EB00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241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A9D8F"/>
                </a:solidFill>
              </a:defRPr>
            </a:pPr>
            <a:r>
              <a:rPr sz="1350" b="1" i="0">
                <a:solidFill>
                  <a:srgbClr val="2A9D8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A6D002-C131-41D2-913D-0F974A2E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0035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3954"/>
                </a:solidFill>
              </a:defRPr>
            </a:pPr>
            <a:r>
              <a:rPr sz="1800" b="1" i="0">
                <a:solidFill>
                  <a:srgbClr val="0B3954"/>
                </a:solidFill>
              </a:rPr>
              <a:t>Demand &amp; access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364CA1-5AD1-40C4-92E6-D0F3EFF7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00450"/>
            <a:ext cx="1952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324D"/>
                </a:solidFill>
              </a:defRPr>
            </a:pPr>
            <a:r>
              <a:rPr sz="1275" b="0" i="0">
                <a:solidFill>
                  <a:srgbClr val="17324D"/>
                </a:solidFill>
              </a:rPr>
              <a:t>Network isochrones</a:t>
            </a:r>
          </a:p>
          <a:p xmlns:a="http://schemas.openxmlformats.org/drawingml/2006/main">
            <a:pPr algn="l">
              <a:defRPr sz="1275" b="0" i="0">
                <a:solidFill>
                  <a:srgbClr val="17324D"/>
                </a:solidFill>
              </a:defRPr>
            </a:pPr>
            <a:r>
              <a:rPr sz="1275" b="0" i="0">
                <a:solidFill>
                  <a:srgbClr val="17324D"/>
                </a:solidFill>
              </a:rPr>
              <a:t>Huff customer share</a:t>
            </a:r>
          </a:p>
          <a:p xmlns:a="http://schemas.openxmlformats.org/drawingml/2006/main">
            <a:pPr algn="l">
              <a:defRPr sz="1275" b="0" i="0">
                <a:solidFill>
                  <a:srgbClr val="17324D"/>
                </a:solidFill>
              </a:defRPr>
            </a:pPr>
            <a:r>
              <a:rPr sz="1275" b="0" i="0">
                <a:solidFill>
                  <a:srgbClr val="17324D"/>
                </a:solidFill>
              </a:rPr>
              <a:t>Spatial block CV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19F439-182A-4BDD-A3AB-6DC6BAF0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F4A261"/>
                </a:solidFill>
              </a:defRPr>
            </a:pPr>
            <a:r>
              <a:rPr sz="2250" b="1" i="0">
                <a:solidFill>
                  <a:srgbClr val="F4A261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1A50CD-DE02-4C76-9C05-E0D3C293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14550"/>
            <a:ext cx="2381250" cy="26289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8D8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BFA79B-2E86-42C3-A033-63457372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241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A9D8F"/>
                </a:solidFill>
              </a:defRPr>
            </a:pPr>
            <a:r>
              <a:rPr sz="1350" b="1" i="0">
                <a:solidFill>
                  <a:srgbClr val="2A9D8F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D3051D-41BF-4A09-B547-7A601140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0035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3954"/>
                </a:solidFill>
              </a:defRPr>
            </a:pPr>
            <a:r>
              <a:rPr sz="1800" b="1" i="0">
                <a:solidFill>
                  <a:srgbClr val="0B3954"/>
                </a:solidFill>
              </a:rPr>
              <a:t>Explainable scoring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8FD707-B87F-4077-AF78-835655AA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00450"/>
            <a:ext cx="1952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324D"/>
                </a:solidFill>
              </a:defRPr>
            </a:pPr>
            <a:r>
              <a:rPr sz="1275" b="0" i="0">
                <a:solidFill>
                  <a:srgbClr val="17324D"/>
                </a:solidFill>
              </a:rPr>
              <a:t>SHAP demand drivers</a:t>
            </a:r>
          </a:p>
          <a:p xmlns:a="http://schemas.openxmlformats.org/drawingml/2006/main">
            <a:pPr algn="l">
              <a:defRPr sz="1275" b="0" i="0">
                <a:solidFill>
                  <a:srgbClr val="17324D"/>
                </a:solidFill>
              </a:defRPr>
            </a:pPr>
            <a:r>
              <a:rPr sz="1275" b="0" i="0">
                <a:solidFill>
                  <a:srgbClr val="17324D"/>
                </a:solidFill>
              </a:rPr>
              <a:t>AHP weights</a:t>
            </a:r>
          </a:p>
          <a:p xmlns:a="http://schemas.openxmlformats.org/drawingml/2006/main">
            <a:pPr algn="l">
              <a:defRPr sz="1275" b="0" i="0">
                <a:solidFill>
                  <a:srgbClr val="17324D"/>
                </a:solidFill>
              </a:defRPr>
            </a:pPr>
            <a:r>
              <a:rPr sz="1275" b="0" i="0">
                <a:solidFill>
                  <a:srgbClr val="17324D"/>
                </a:solidFill>
              </a:rPr>
              <a:t>Sensitivity testing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C0EC6D-1DFC-42B8-99AB-F639A827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861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F4A261"/>
                </a:solidFill>
              </a:defRPr>
            </a:pPr>
            <a:r>
              <a:rPr sz="2250" b="1" i="0">
                <a:solidFill>
                  <a:srgbClr val="F4A261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ABE71E-698A-4BBD-A49D-62305C88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14550"/>
            <a:ext cx="2381250" cy="26289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AF2F3"/>
          </a:solidFill>
          <a:ln xmlns:a="http://schemas.openxmlformats.org/drawingml/2006/main" w="14288">
            <a:solidFill>
              <a:srgbClr val="C8D8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04C98C-4E9F-4D38-9405-E99B39DB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241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A9D8F"/>
                </a:solidFill>
              </a:defRPr>
            </a:pPr>
            <a:r>
              <a:rPr sz="1350" b="1" i="0">
                <a:solidFill>
                  <a:srgbClr val="2A9D8F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3E7C39-1212-4F50-8FE2-E11FFD88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0035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3954"/>
                </a:solidFill>
              </a:defRPr>
            </a:pPr>
            <a:r>
              <a:rPr sz="1800" b="1" i="0">
                <a:solidFill>
                  <a:srgbClr val="0B3954"/>
                </a:solidFill>
              </a:rPr>
              <a:t>Portfolio allocation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646CFA-E102-4717-A907-5E934800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00450"/>
            <a:ext cx="1952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324D"/>
                </a:solidFill>
              </a:defRPr>
            </a:pPr>
            <a:r>
              <a:rPr sz="1275" b="0" i="0">
                <a:solidFill>
                  <a:srgbClr val="17324D"/>
                </a:solidFill>
              </a:rPr>
              <a:t>Budget and distance</a:t>
            </a:r>
          </a:p>
          <a:p xmlns:a="http://schemas.openxmlformats.org/drawingml/2006/main">
            <a:pPr algn="l">
              <a:defRPr sz="1275" b="0" i="0">
                <a:solidFill>
                  <a:srgbClr val="17324D"/>
                </a:solidFill>
              </a:defRPr>
            </a:pPr>
            <a:r>
              <a:rPr sz="1275" b="0" i="0">
                <a:solidFill>
                  <a:srgbClr val="17324D"/>
                </a:solidFill>
              </a:rPr>
              <a:t>Maximum coverage</a:t>
            </a:r>
          </a:p>
          <a:p xmlns:a="http://schemas.openxmlformats.org/drawingml/2006/main">
            <a:pPr algn="l">
              <a:defRPr sz="1275" b="0" i="0">
                <a:solidFill>
                  <a:srgbClr val="17324D"/>
                </a:solidFill>
              </a:defRPr>
            </a:pPr>
            <a:r>
              <a:rPr sz="1275" b="0" i="0">
                <a:solidFill>
                  <a:srgbClr val="17324D"/>
                </a:solidFill>
              </a:rPr>
              <a:t>Scenario portfolios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5F679D-FA0F-4FFF-86D0-816B175C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1970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B3954"/>
                </a:solidFill>
              </a:defRPr>
            </a:pPr>
            <a:r>
              <a:rPr sz="1500" b="1" i="0">
                <a:solidFill>
                  <a:srgbClr val="0B3954"/>
                </a:solidFill>
              </a:rPr>
              <a:t>Audit spine  •  data contracts  •  quality gates  •  model card  •  runbook  •  monitored API</a:t>
            </a:r>
          </a:p>
        </p:txBody>
      </p:sp>
    </p:spTree>
    <p:extLst>
      <p:ext uri="{BB962C8B-B14F-4D97-AF65-F5344CB8AC3E}">
        <p14:creationId xmlns:p14="http://schemas.microsoft.com/office/powerpoint/2010/main" val="18738956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8C9218-56A2-4429-AE23-153313D9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3954"/>
                </a:solidFill>
              </a:defRPr>
            </a:pPr>
            <a:r>
              <a:rPr sz="2700" b="1" i="0">
                <a:solidFill>
                  <a:srgbClr val="0B3954"/>
                </a:solidFill>
              </a:rPr>
              <a:t>Commercial outcomes remain synthetic by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E61154-985A-49AA-8B33-2603A3BA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123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F5905D-8ADF-4CD2-976B-59FD1262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07D8B"/>
                </a:solidFill>
              </a:defRPr>
            </a:pPr>
            <a:r>
              <a:rPr sz="1500" b="0" i="0">
                <a:solidFill>
                  <a:srgbClr val="607D8B"/>
                </a:solidFill>
              </a:rPr>
              <a:t>The separation prevents personal-data exposure and keeps every business result reproducible.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A9D497-71B2-461F-AFD7-7450B3E4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07D8B"/>
                </a:solidFill>
              </a:defRPr>
            </a:pPr>
            <a:r>
              <a:rPr sz="825" b="0" i="0">
                <a:solidFill>
                  <a:srgbClr val="607D8B"/>
                </a:solidFill>
              </a:rPr>
              <a:t>Synthetic decision support • Human review required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11E90C-30D7-4DCC-8142-40A236EC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B3954"/>
                </a:solidFill>
              </a:defRPr>
            </a:pPr>
            <a:r>
              <a:rPr sz="900" b="1" i="0">
                <a:solidFill>
                  <a:srgbClr val="0B3954"/>
                </a:solidFill>
              </a:rPr>
              <a:t>05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723900" y="1905000"/>
          <a:ext xmlns:a="http://schemas.openxmlformats.org/drawingml/2006/main" cx="10744200" cy="3352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905250"/>
                <a:gridCol w="4743450"/>
              </a:tblGrid>
              <a:tr h="5588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 marL="91440" marR="91440" marT="45720" marB="45720"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What is used</a:t>
                      </a:r>
                    </a:p>
                  </a:txBody>
                  <a:tcPr marL="91440" marR="91440" marT="45720" marB="45720"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Governance control</a:t>
                      </a:r>
                    </a:p>
                  </a:txBody>
                  <a:tcPr marL="91440" marR="91440" marT="45720" marB="45720">
                    <a:solidFill>
                      <a:srgbClr val="0B3954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Geographic frame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Approximate public-place coordinates; WGS84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No address-level customer or device 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Business attributes</a:t>
                      </a:r>
                    </a:p>
                  </a:txBody>
                  <a:tcPr marL="91440" marR="91440" marT="45720" marB="45720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Population, income, rent, demand and sales</a:t>
                      </a:r>
                    </a:p>
                  </a:txBody>
                  <a:tcPr marL="91440" marR="91440" marT="45720" marB="45720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Deterministic generator; seed 20260729</a:t>
                      </a:r>
                    </a:p>
                  </a:txBody>
                  <a:tcPr marL="91440" marR="91440" marT="45720" marB="45720">
                    <a:solidFill>
                      <a:srgbClr val="EAF2F3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Network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H3 adjacency plus explicit bridge links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Projected centroid distance in EPSG:32635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Map context</a:t>
                      </a:r>
                    </a:p>
                  </a:txBody>
                  <a:tcPr marL="91440" marR="91440" marT="45720" marB="45720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OpenStreetMap tiles in interactive HTML</a:t>
                      </a:r>
                    </a:p>
                  </a:txBody>
                  <a:tcPr marL="91440" marR="91440" marT="45720" marB="45720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Attribution and ODbL link included</a:t>
                      </a:r>
                    </a:p>
                  </a:txBody>
                  <a:tcPr marL="91440" marR="91440" marT="45720" marB="45720">
                    <a:solidFill>
                      <a:srgbClr val="EAF2F3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Decision outputs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Scores, forecasts and selected portfolios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Human review; not investment advice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1555F2-3744-413B-ACF3-D4C695B4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3954"/>
                </a:solidFill>
              </a:defRPr>
            </a:pPr>
            <a:r>
              <a:rPr sz="1350" b="1" i="0">
                <a:solidFill>
                  <a:srgbClr val="0B3954"/>
                </a:solidFill>
              </a:rPr>
              <a:t>Source/license crosswalk records access date, use, origin and license for each external component.</a:t>
            </a:r>
          </a:p>
        </p:txBody>
      </p:sp>
    </p:spTree>
    <p:extLst>
      <p:ext uri="{BB962C8B-B14F-4D97-AF65-F5344CB8AC3E}">
        <p14:creationId xmlns:p14="http://schemas.microsoft.com/office/powerpoint/2010/main" val="10535943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60527D-5C6C-4A72-930B-CD982D0E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3954"/>
                </a:solidFill>
              </a:defRPr>
            </a:pPr>
            <a:r>
              <a:rPr sz="2700" b="1" i="0">
                <a:solidFill>
                  <a:srgbClr val="0B3954"/>
                </a:solidFill>
              </a:rPr>
              <a:t>Network time exposes reach that circular buffers cannot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D0687-0AD2-45A4-A060-D768A253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123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63C225-1932-471B-9CDD-7CB88669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07D8B"/>
                </a:solidFill>
              </a:defRPr>
            </a:pPr>
            <a:r>
              <a:rPr sz="1500" b="0" i="0">
                <a:solidFill>
                  <a:srgbClr val="607D8B"/>
                </a:solidFill>
              </a:rPr>
              <a:t>Ikitelli Industry reaches 396,396 people in 10 minutes by the modeled drive network.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E9E961-F3C1-4415-87DB-3613CFA6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07D8B"/>
                </a:solidFill>
              </a:defRPr>
            </a:pPr>
            <a:r>
              <a:rPr sz="825" b="0" i="0">
                <a:solidFill>
                  <a:srgbClr val="607D8B"/>
                </a:solidFill>
              </a:rPr>
              <a:t>Synthetic decision support • Human review required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A8D3CD-BD67-4A1A-85B0-A76C8815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B3954"/>
                </a:solidFill>
              </a:defRPr>
            </a:pPr>
            <a:r>
              <a:rPr sz="900" b="1" i="0">
                <a:solidFill>
                  <a:srgbClr val="0B3954"/>
                </a:solidFill>
              </a:rPr>
              <a:t>06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6927a349b646bc"/>
          <a:stretch xmlns:a="http://schemas.openxmlformats.org/drawingml/2006/main"/>
        </p:blipFill>
        <p:spPr>
          <a:xfrm xmlns:a="http://schemas.openxmlformats.org/drawingml/2006/main">
            <a:off x="533400" y="1749928"/>
            <a:ext cx="6858000" cy="417729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907FAC-A26E-4344-A7B7-823C6163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9812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3954"/>
                </a:solidFill>
              </a:defRPr>
            </a:pPr>
            <a:r>
              <a:rPr sz="3000" b="1" i="0">
                <a:solidFill>
                  <a:srgbClr val="0B3954"/>
                </a:solidFill>
              </a:rPr>
              <a:t>118,859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7883AB-9C14-44C5-8121-FB6E395A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7175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442CCA-9199-4AD9-84DE-596CFCC6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7051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07D8B"/>
                </a:solidFill>
              </a:defRPr>
            </a:pPr>
            <a:r>
              <a:rPr sz="1200" b="0" i="0">
                <a:solidFill>
                  <a:srgbClr val="607D8B"/>
                </a:solidFill>
              </a:rPr>
              <a:t>5-minute drive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8C9FBD-A4B6-4D72-9F27-FF5EBD2F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2575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3954"/>
                </a:solidFill>
              </a:defRPr>
            </a:pPr>
            <a:r>
              <a:rPr sz="3000" b="1" i="0">
                <a:solidFill>
                  <a:srgbClr val="0B3954"/>
                </a:solidFill>
              </a:rPr>
              <a:t>396,396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C6A644-C9D7-4AA0-A794-178E68B8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84810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9A8C59-2323-4605-802A-50CFBB61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9814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07D8B"/>
                </a:solidFill>
              </a:defRPr>
            </a:pPr>
            <a:r>
              <a:rPr sz="1200" b="0" i="0">
                <a:solidFill>
                  <a:srgbClr val="607D8B"/>
                </a:solidFill>
              </a:rPr>
              <a:t>10-minute drive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1F9098-5181-4B26-B847-6DF26AC1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5339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3954"/>
                </a:solidFill>
              </a:defRPr>
            </a:pPr>
            <a:r>
              <a:rPr sz="3000" b="1" i="0">
                <a:solidFill>
                  <a:srgbClr val="0B3954"/>
                </a:solidFill>
              </a:rPr>
              <a:t>823,788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246BC4-3F40-4130-A4FD-5171885D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12445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86FF"/>
          </a:solidFill>
          <a:ln xmlns:a="http://schemas.openxmlformats.org/drawingml/2006/main" w="0">
            <a:solidFill>
              <a:srgbClr val="3A86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F429BC-1944-478B-AF45-CA34C20A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2578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07D8B"/>
                </a:solidFill>
              </a:defRPr>
            </a:pPr>
            <a:r>
              <a:rPr sz="1200" b="0" i="0">
                <a:solidFill>
                  <a:srgbClr val="607D8B"/>
                </a:solidFill>
              </a:rPr>
              <a:t>15-minute drive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B303FA-8727-4717-959E-E22B201F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81025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E76F51"/>
                </a:solidFill>
              </a:defRPr>
            </a:pPr>
            <a:r>
              <a:rPr sz="1275" b="1" i="0">
                <a:solidFill>
                  <a:srgbClr val="E76F51"/>
                </a:solidFill>
              </a:rPr>
              <a:t>66.1% fewer people than the naïve straight-line radius estimate</a:t>
            </a:r>
          </a:p>
        </p:txBody>
      </p:sp>
    </p:spTree>
    <p:extLst>
      <p:ext uri="{BB962C8B-B14F-4D97-AF65-F5344CB8AC3E}">
        <p14:creationId xmlns:p14="http://schemas.microsoft.com/office/powerpoint/2010/main" val="16538704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968D86-56F4-45C6-879C-642376CD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3954"/>
                </a:solidFill>
              </a:defRPr>
            </a:pPr>
            <a:r>
              <a:rPr sz="2700" b="1" i="0">
                <a:solidFill>
                  <a:srgbClr val="0B3954"/>
                </a:solidFill>
              </a:rPr>
              <a:t>White-space scoring rewards uncovered demand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9A0B3D-2661-4532-BBCC-298B47A9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123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AE8A12-8FD4-4C15-A27A-E85ED6FD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07D8B"/>
                </a:solidFill>
              </a:defRPr>
            </a:pPr>
            <a:r>
              <a:rPr sz="1500" b="0" i="0">
                <a:solidFill>
                  <a:srgbClr val="607D8B"/>
                </a:solidFill>
              </a:rPr>
              <a:t>Opportunity combines demand weight, competition headroom and an explicit penalty for existing-store coverage.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E8D408-8784-409D-945A-5EB28C95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07D8B"/>
                </a:solidFill>
              </a:defRPr>
            </a:pPr>
            <a:r>
              <a:rPr sz="825" b="0" i="0">
                <a:solidFill>
                  <a:srgbClr val="607D8B"/>
                </a:solidFill>
              </a:rPr>
              <a:t>Synthetic decision support • Human review required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F5C3BE-1A95-47BD-8A74-D54F3A7A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B3954"/>
                </a:solidFill>
              </a:defRPr>
            </a:pPr>
            <a:r>
              <a:rPr sz="900" b="1" i="0">
                <a:solidFill>
                  <a:srgbClr val="0B3954"/>
                </a:solidFill>
              </a:rPr>
              <a:t>07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2164295aaf496b"/>
          <a:stretch xmlns:a="http://schemas.openxmlformats.org/drawingml/2006/main"/>
        </p:blipFill>
        <p:spPr>
          <a:xfrm xmlns:a="http://schemas.openxmlformats.org/drawingml/2006/main">
            <a:off x="4953000" y="2077951"/>
            <a:ext cx="6667500" cy="3635548"/>
          </a:xfrm>
          <a:prstGeom xmlns:a="http://schemas.openxmlformats.org/drawingml/2006/main" prst="rect">
            <a:avLst/>
          </a:prstGeom>
        </p:spPr>
      </p:pic>
      <p:graphicFrame>
        <p:nvGraphicFramePr>
          <p:cNvPr id="15" name=""/>
          <p:cNvGraphicFramePr/>
          <p:nvPr/>
        </p:nvGraphicFramePr>
        <p:xfrm>
          <a:off xmlns:a="http://schemas.openxmlformats.org/drawingml/2006/main" x="628650" y="2190750"/>
          <a:ext xmlns:a="http://schemas.openxmlformats.org/drawingml/2006/main" cx="40005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1143000"/>
                <a:gridCol w="571500"/>
              </a:tblGrid>
              <a:tr h="533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Candidate</a:t>
                      </a:r>
                    </a:p>
                  </a:txBody>
                  <a:tcPr marL="91440" marR="91440" marT="45720" marB="45720"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White-space norm.</a:t>
                      </a:r>
                    </a:p>
                  </a:txBody>
                  <a:tcPr marL="91440" marR="91440" marT="45720" marB="45720"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Rank</a:t>
                      </a:r>
                    </a:p>
                  </a:txBody>
                  <a:tcPr marL="91440" marR="91440" marT="45720" marB="45720">
                    <a:solidFill>
                      <a:srgbClr val="0B3954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Avcilar University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1.000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#5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Buyukcekmece Center</a:t>
                      </a:r>
                    </a:p>
                  </a:txBody>
                  <a:tcPr marL="91440" marR="91440" marT="45720" marB="45720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0.988</a:t>
                      </a:r>
                    </a:p>
                  </a:txBody>
                  <a:tcPr marL="91440" marR="91440" marT="45720" marB="45720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#12</a:t>
                      </a:r>
                    </a:p>
                  </a:txBody>
                  <a:tcPr marL="91440" marR="91440" marT="45720" marB="45720">
                    <a:solidFill>
                      <a:srgbClr val="EAF2F3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Arnavutkoy Center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0.790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#22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Gokturk Center</a:t>
                      </a:r>
                    </a:p>
                  </a:txBody>
                  <a:tcPr marL="91440" marR="91440" marT="45720" marB="45720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0.611</a:t>
                      </a:r>
                    </a:p>
                  </a:txBody>
                  <a:tcPr marL="91440" marR="91440" marT="45720" marB="45720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#18</a:t>
                      </a:r>
                    </a:p>
                  </a:txBody>
                  <a:tcPr marL="91440" marR="91440" marT="45720" marB="45720">
                    <a:solidFill>
                      <a:srgbClr val="EAF2F3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1DFECA-741D-479B-AEC1-CA1CFF46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3905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3954"/>
                </a:solidFill>
              </a:defRPr>
            </a:pPr>
            <a:r>
              <a:rPr sz="1350" b="1" i="0">
                <a:solidFill>
                  <a:srgbClr val="0B3954"/>
                </a:solidFill>
              </a:rPr>
              <a:t>A high white-space score is necessary but not sufficient: cost, delivery and profitability remain independent gates.</a:t>
            </a:r>
          </a:p>
        </p:txBody>
      </p:sp>
    </p:spTree>
    <p:extLst>
      <p:ext uri="{BB962C8B-B14F-4D97-AF65-F5344CB8AC3E}">
        <p14:creationId xmlns:p14="http://schemas.microsoft.com/office/powerpoint/2010/main" val="12535427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15846F-ED7A-4353-A11A-36EADCF9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3954"/>
                </a:solidFill>
              </a:defRPr>
            </a:pPr>
            <a:r>
              <a:rPr sz="2700" b="1" i="0">
                <a:solidFill>
                  <a:srgbClr val="0B3954"/>
                </a:solidFill>
              </a:rPr>
              <a:t>Cannibalization distinguishes growth from estate overlap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D4EA8D-A8BD-4B26-8697-A893D5CC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123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418932-C61C-40F9-9E89-0DDE96BD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07D8B"/>
                </a:solidFill>
              </a:defRPr>
            </a:pPr>
            <a:r>
              <a:rPr sz="1500" b="0" i="0">
                <a:solidFill>
                  <a:srgbClr val="607D8B"/>
                </a:solidFill>
              </a:rPr>
              <a:t>The risk combines 10-minute population overlap and distance decay to the nearest existing store.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58E285-9948-42B7-9E42-5A7104AB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07D8B"/>
                </a:solidFill>
              </a:defRPr>
            </a:pPr>
            <a:r>
              <a:rPr sz="825" b="0" i="0">
                <a:solidFill>
                  <a:srgbClr val="607D8B"/>
                </a:solidFill>
              </a:rPr>
              <a:t>Synthetic decision support • Human review required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BF2123-D8F9-4CD7-880D-917B2248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B3954"/>
                </a:solidFill>
              </a:defRPr>
            </a:pPr>
            <a:r>
              <a:rPr sz="900" b="1" i="0">
                <a:solidFill>
                  <a:srgbClr val="0B3954"/>
                </a:solidFill>
              </a:rPr>
              <a:t>08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7239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5c59687cc244f68"/>
          </a:graphicData>
        </a:graphic>
      </p:graphicFrame>
      <p:graphicFrame>
        <p:nvGraphicFramePr>
          <p:cNvPr id="15" name=""/>
          <p:cNvGraphicFramePr/>
          <p:nvPr/>
        </p:nvGraphicFramePr>
        <p:xfrm>
          <a:off xmlns:a="http://schemas.openxmlformats.org/drawingml/2006/main" x="8286750" y="2209800"/>
          <a:ext xmlns:a="http://schemas.openxmlformats.org/drawingml/2006/main" cx="32385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714375"/>
                <a:gridCol w="904875"/>
              </a:tblGrid>
              <a:tr h="4953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Candidate</a:t>
                      </a:r>
                    </a:p>
                  </a:txBody>
                  <a:tcPr marL="91440" marR="91440" marT="45720" marB="45720"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 marL="91440" marR="91440" marT="45720" marB="45720"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Nearest store</a:t>
                      </a:r>
                    </a:p>
                  </a:txBody>
                  <a:tcPr marL="91440" marR="91440" marT="45720" marB="45720">
                    <a:solidFill>
                      <a:srgbClr val="0B3954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Ikitelli Industry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1.0%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12.5 km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Sultanbeyli Square</a:t>
                      </a:r>
                    </a:p>
                  </a:txBody>
                  <a:tcPr marL="91440" marR="91440" marT="45720" marB="45720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1.8%</a:t>
                      </a:r>
                    </a:p>
                  </a:txBody>
                  <a:tcPr marL="91440" marR="91440" marT="45720" marB="45720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10.4 km</a:t>
                      </a:r>
                    </a:p>
                  </a:txBody>
                  <a:tcPr marL="91440" marR="91440" marT="45720" marB="45720">
                    <a:solidFill>
                      <a:srgbClr val="EAF2F3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Eyupsultan Hub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34.9%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4.8 km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Kagithane Axis</a:t>
                      </a:r>
                    </a:p>
                  </a:txBody>
                  <a:tcPr marL="91440" marR="91440" marT="45720" marB="45720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61.0%</a:t>
                      </a:r>
                    </a:p>
                  </a:txBody>
                  <a:tcPr marL="91440" marR="91440" marT="45720" marB="45720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3.0 km</a:t>
                      </a:r>
                    </a:p>
                  </a:txBody>
                  <a:tcPr marL="91440" marR="91440" marT="45720" marB="45720">
                    <a:solidFill>
                      <a:srgbClr val="EAF2F3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51A02C-9062-40BB-B70F-E0EED886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0673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3954"/>
                </a:solidFill>
              </a:defRPr>
            </a:pPr>
            <a:r>
              <a:rPr sz="1275" b="1" i="0">
                <a:solidFill>
                  <a:srgbClr val="0B3954"/>
                </a:solidFill>
              </a:rPr>
              <a:t>Huff diversion is reported separately, so customer-share transfer is not hidden inside one overlap metric.</a:t>
            </a:r>
          </a:p>
        </p:txBody>
      </p:sp>
    </p:spTree>
    <p:extLst>
      <p:ext uri="{BB962C8B-B14F-4D97-AF65-F5344CB8AC3E}">
        <p14:creationId xmlns:p14="http://schemas.microsoft.com/office/powerpoint/2010/main" val="10621332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B373C1-370E-4E66-8386-62E6BD07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3954"/>
                </a:solidFill>
              </a:defRPr>
            </a:pPr>
            <a:r>
              <a:rPr sz="2700" b="1" i="0">
                <a:solidFill>
                  <a:srgbClr val="0B3954"/>
                </a:solidFill>
              </a:rPr>
              <a:t>Spatial folds prevent neighboring-site leakage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BB9A6E-F06C-43B9-90F2-5A5A0888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123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B36940-D099-4CA0-AA55-8C065702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07D8B"/>
                </a:solidFill>
              </a:defRPr>
            </a:pPr>
            <a:r>
              <a:rPr sz="1500" b="0" i="0">
                <a:solidFill>
                  <a:srgbClr val="607D8B"/>
                </a:solidFill>
              </a:rPr>
              <a:t>Five GroupKFold splits use 12 km projected blocks to reduce spatial leakage.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8F9DA-3937-4863-BE54-9FD8FF3E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07D8B"/>
                </a:solidFill>
              </a:defRPr>
            </a:pPr>
            <a:r>
              <a:rPr sz="825" b="0" i="0">
                <a:solidFill>
                  <a:srgbClr val="607D8B"/>
                </a:solidFill>
              </a:rPr>
              <a:t>Synthetic decision support • Human review required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4467DF-9654-43D5-971F-21156B7A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B3954"/>
                </a:solidFill>
              </a:defRPr>
            </a:pPr>
            <a:r>
              <a:rPr sz="900" b="1" i="0">
                <a:solidFill>
                  <a:srgbClr val="0B3954"/>
                </a:solidFill>
              </a:rPr>
              <a:t>09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951e2911fc49d3"/>
          <a:stretch xmlns:a="http://schemas.openxmlformats.org/drawingml/2006/main"/>
        </p:blipFill>
        <p:spPr>
          <a:xfrm xmlns:a="http://schemas.openxmlformats.org/drawingml/2006/main">
            <a:off x="457200" y="2162058"/>
            <a:ext cx="7810500" cy="320063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835E58-3178-4802-854C-290B07A8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4310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3954"/>
                </a:solidFill>
              </a:defRPr>
            </a:pPr>
            <a:r>
              <a:rPr sz="3000" b="1" i="0">
                <a:solidFill>
                  <a:srgbClr val="0B3954"/>
                </a:solidFill>
              </a:rPr>
              <a:t>3.82m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6AD6E0-CA84-48A8-BA64-EF76C49D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3365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92DBDB-D33B-476C-BC43-5755C318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670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07D8B"/>
                </a:solidFill>
              </a:defRPr>
            </a:pPr>
            <a:r>
              <a:rPr sz="1200" b="0" i="0">
                <a:solidFill>
                  <a:srgbClr val="607D8B"/>
                </a:solidFill>
              </a:rPr>
              <a:t>MAE (TRY)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7BFC92-6180-4FE4-9E07-78E49742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194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3954"/>
                </a:solidFill>
              </a:defRPr>
            </a:pPr>
            <a:r>
              <a:rPr sz="3000" b="1" i="0">
                <a:solidFill>
                  <a:srgbClr val="0B3954"/>
                </a:solidFill>
              </a:rPr>
              <a:t>5.73m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7CA7C9-98D6-409F-8C24-4C1A9C43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1000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0C19D6-32EC-41A2-AAF4-ABBBF447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4335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07D8B"/>
                </a:solidFill>
              </a:defRPr>
            </a:pPr>
            <a:r>
              <a:rPr sz="1200" b="0" i="0">
                <a:solidFill>
                  <a:srgbClr val="607D8B"/>
                </a:solidFill>
              </a:rPr>
              <a:t>RMSE (TRY)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F838A0-D5AE-45DB-9142-87271EFB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9580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3954"/>
                </a:solidFill>
              </a:defRPr>
            </a:pPr>
            <a:r>
              <a:rPr sz="3000" b="1" i="0">
                <a:solidFill>
                  <a:srgbClr val="0B3954"/>
                </a:solidFill>
              </a:rPr>
              <a:t>0.964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75A32E-1C06-4D4C-80E7-6EF8DB38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8635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86FF"/>
          </a:solidFill>
          <a:ln xmlns:a="http://schemas.openxmlformats.org/drawingml/2006/main" w="0">
            <a:solidFill>
              <a:srgbClr val="3A86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29E8C1-B09F-4A52-B755-597B74F3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2197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07D8B"/>
                </a:solidFill>
              </a:defRPr>
            </a:pPr>
            <a:r>
              <a:rPr sz="1200" b="0" i="0">
                <a:solidFill>
                  <a:srgbClr val="607D8B"/>
                </a:solidFill>
              </a:rPr>
              <a:t>out-of-fold R²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465942-1AAC-4AE9-8CCE-6B435DE6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7912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E76F51"/>
                </a:solidFill>
              </a:defRPr>
            </a:pPr>
            <a:r>
              <a:rPr sz="1200" b="1" i="0">
                <a:solidFill>
                  <a:srgbClr val="E76F51"/>
                </a:solidFill>
              </a:rPr>
              <a:t>High fit is expected in a deterministic synthetic benchmark and must not be extrapolated to real stores.</a:t>
            </a:r>
          </a:p>
        </p:txBody>
      </p:sp>
    </p:spTree>
    <p:extLst>
      <p:ext uri="{BB962C8B-B14F-4D97-AF65-F5344CB8AC3E}">
        <p14:creationId xmlns:p14="http://schemas.microsoft.com/office/powerpoint/2010/main" val="2371089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4062CB-E859-4B6F-A884-83C6F858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3954"/>
                </a:solidFill>
              </a:defRPr>
            </a:pPr>
            <a:r>
              <a:rPr sz="2700" b="1" i="0">
                <a:solidFill>
                  <a:srgbClr val="0B3954"/>
                </a:solidFill>
              </a:rPr>
              <a:t>Accessible population drives Ikitelli demand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511269-E5B2-441B-A1DE-CB9A54CD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123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171B77-52A0-423D-94FC-AB50BE7A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07D8B"/>
                </a:solidFill>
              </a:defRPr>
            </a:pPr>
            <a:r>
              <a:rPr sz="1500" b="0" i="0">
                <a:solidFill>
                  <a:srgbClr val="607D8B"/>
                </a:solidFill>
              </a:rPr>
              <a:t>SHAP reconciles the TRY 162.8m model baseline to a TRY 183.1m prediction.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E1A553-59F4-4B07-929C-9DE84494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07D8B"/>
                </a:solidFill>
              </a:defRPr>
            </a:pPr>
            <a:r>
              <a:rPr sz="825" b="0" i="0">
                <a:solidFill>
                  <a:srgbClr val="607D8B"/>
                </a:solidFill>
              </a:rPr>
              <a:t>Synthetic decision support • Human review required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FB36F9-81C8-4674-B284-0AC99A9F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B3954"/>
                </a:solidFill>
              </a:defRPr>
            </a:pPr>
            <a:r>
              <a:rPr sz="900" b="1" i="0">
                <a:solidFill>
                  <a:srgbClr val="0B3954"/>
                </a:solidFill>
              </a:rPr>
              <a:t>10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79057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a91c9eecfe84d8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399349-F6EB-4F48-8001-CFF012B7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669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3954"/>
                </a:solidFill>
              </a:defRPr>
            </a:pPr>
            <a:r>
              <a:rPr sz="3000" b="1" i="0">
                <a:solidFill>
                  <a:srgbClr val="0B3954"/>
                </a:solidFill>
              </a:rPr>
              <a:t>+17.4m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B9C2F0-B268-47B8-BEF6-D3773178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5750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BEC54D-3032-407E-94EF-F223BC50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9085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07D8B"/>
                </a:solidFill>
              </a:defRPr>
            </a:pPr>
            <a:r>
              <a:rPr sz="1200" b="0" i="0">
                <a:solidFill>
                  <a:srgbClr val="607D8B"/>
                </a:solidFill>
              </a:rPr>
              <a:t>10-minute population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737BBD-F877-4BBE-8E58-0F3EEA2C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814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3954"/>
                </a:solidFill>
              </a:defRPr>
            </a:pPr>
            <a:r>
              <a:rPr sz="3000" b="1" i="0">
                <a:solidFill>
                  <a:srgbClr val="0B3954"/>
                </a:solidFill>
              </a:rPr>
              <a:t>+3.1m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7C0E71-EDAD-4109-A50B-F459B7FE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17195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86FF"/>
          </a:solidFill>
          <a:ln xmlns:a="http://schemas.openxmlformats.org/drawingml/2006/main" w="0">
            <a:solidFill>
              <a:srgbClr val="3A86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E2A0A1-E511-4CB1-A8CD-77C12D82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3053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07D8B"/>
                </a:solidFill>
              </a:defRPr>
            </a:pPr>
            <a:r>
              <a:rPr sz="1200" b="0" i="0">
                <a:solidFill>
                  <a:srgbClr val="607D8B"/>
                </a:solidFill>
              </a:rPr>
              <a:t>walkability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AB6B84-5EB7-417D-9C3A-1ED7E713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8958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3954"/>
                </a:solidFill>
              </a:defRPr>
            </a:pPr>
            <a:r>
              <a:rPr sz="3000" b="1" i="0">
                <a:solidFill>
                  <a:srgbClr val="0B3954"/>
                </a:solidFill>
              </a:rPr>
              <a:t>-1.2m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882F4C-55FF-4AB1-9877-4F2F5A94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8640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E4512A-6737-4128-8B35-B99EBA39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61975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07D8B"/>
                </a:solidFill>
              </a:defRPr>
            </a:pPr>
            <a:r>
              <a:rPr sz="1200" b="0" i="0">
                <a:solidFill>
                  <a:srgbClr val="607D8B"/>
                </a:solidFill>
              </a:rPr>
              <a:t>cannibalization term</a:t>
            </a:r>
          </a:p>
        </p:txBody>
      </p:sp>
    </p:spTree>
    <p:extLst>
      <p:ext uri="{BB962C8B-B14F-4D97-AF65-F5344CB8AC3E}">
        <p14:creationId xmlns:p14="http://schemas.microsoft.com/office/powerpoint/2010/main" val="20030841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0B971C-8605-47F2-982F-F949E7FC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3954"/>
                </a:solidFill>
              </a:defRPr>
            </a:pPr>
            <a:r>
              <a:rPr sz="2700" b="1" i="0">
                <a:solidFill>
                  <a:srgbClr val="0B3954"/>
                </a:solidFill>
              </a:rPr>
              <a:t>AHP makes the score inspectable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88FBB4-E876-474D-B0BB-74BBC7B8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123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0DD394-FE83-4E71-B87C-9A411499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07D8B"/>
                </a:solidFill>
              </a:defRPr>
            </a:pPr>
            <a:r>
              <a:rPr sz="1500" b="0" i="0">
                <a:solidFill>
                  <a:srgbClr val="607D8B"/>
                </a:solidFill>
              </a:rPr>
              <a:t>Market potential receives 23% weight; accessibility, profitability and white space jointly shape the decision.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D6273F-8228-4532-9D81-3AC1A1DF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07D8B"/>
                </a:solidFill>
              </a:defRPr>
            </a:pPr>
            <a:r>
              <a:rPr sz="825" b="0" i="0">
                <a:solidFill>
                  <a:srgbClr val="607D8B"/>
                </a:solidFill>
              </a:rPr>
              <a:t>Synthetic decision support • Human review required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92035E-E33A-4B1E-A171-A245C2A2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B3954"/>
                </a:solidFill>
              </a:defRPr>
            </a:pPr>
            <a:r>
              <a:rPr sz="900" b="1" i="0">
                <a:solidFill>
                  <a:srgbClr val="0B3954"/>
                </a:solidFill>
              </a:rPr>
              <a:t>11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40957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04de175c715423c"/>
          </a:graphicData>
        </a:graphic>
      </p:graphicFrame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dc3314012d44dc"/>
          <a:stretch xmlns:a="http://schemas.openxmlformats.org/drawingml/2006/main"/>
        </p:blipFill>
        <p:spPr>
          <a:xfrm xmlns:a="http://schemas.openxmlformats.org/drawingml/2006/main">
            <a:off x="4857750" y="2184421"/>
            <a:ext cx="6762750" cy="334640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FD1796-23D6-49E2-A42D-47B607CD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3954"/>
                </a:solidFill>
              </a:defRPr>
            </a:pPr>
            <a:r>
              <a:rPr sz="1275" b="1" i="0">
                <a:solidFill>
                  <a:srgbClr val="0B3954"/>
                </a:solidFill>
              </a:rPr>
              <a:t>AHP consistency ratio: effectively 0.000 • threshold &lt; 0.10 • PASS</a:t>
            </a:r>
          </a:p>
        </p:txBody>
      </p:sp>
    </p:spTree>
    <p:extLst>
      <p:ext uri="{BB962C8B-B14F-4D97-AF65-F5344CB8AC3E}">
        <p14:creationId xmlns:p14="http://schemas.microsoft.com/office/powerpoint/2010/main" val="12292378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EE2300-9F31-4937-9B1D-DACAECAF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3954"/>
                </a:solidFill>
              </a:defRPr>
            </a:pPr>
            <a:r>
              <a:rPr sz="2700" b="1" i="0">
                <a:solidFill>
                  <a:srgbClr val="0B3954"/>
                </a:solidFill>
              </a:rPr>
              <a:t>Ikitelli stays top-five across weight samples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4A9824-3D30-423F-B50A-4D9AEA38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123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C85AA-9272-4CC3-B6C9-512A96C1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07D8B"/>
                </a:solidFill>
              </a:defRPr>
            </a:pPr>
            <a:r>
              <a:rPr sz="1500" b="0" i="0">
                <a:solidFill>
                  <a:srgbClr val="607D8B"/>
                </a:solidFill>
              </a:rPr>
              <a:t>750 Dirichlet draws quantify rank stability around the approved AHP weights.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B97011-FF21-45AC-A92B-F9863074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07D8B"/>
                </a:solidFill>
              </a:defRPr>
            </a:pPr>
            <a:r>
              <a:rPr sz="825" b="0" i="0">
                <a:solidFill>
                  <a:srgbClr val="607D8B"/>
                </a:solidFill>
              </a:rPr>
              <a:t>Synthetic decision support • Human review required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A712E5-5C07-48C4-A86B-08A72DF1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B3954"/>
                </a:solidFill>
              </a:defRPr>
            </a:pPr>
            <a:r>
              <a:rPr sz="900" b="1" i="0">
                <a:solidFill>
                  <a:srgbClr val="0B3954"/>
                </a:solidFill>
              </a:rPr>
              <a:t>12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66750" y="1847850"/>
          <a:ext xmlns:a="http://schemas.openxmlformats.org/drawingml/2006/main" cx="6286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d464f17d3ee4d03"/>
          </a:graphicData>
        </a:graphic>
      </p:graphicFrame>
      <p:graphicFrame>
        <p:nvGraphicFramePr>
          <p:cNvPr id="15" name=""/>
          <p:cNvGraphicFramePr/>
          <p:nvPr/>
        </p:nvGraphicFramePr>
        <p:xfrm>
          <a:off xmlns:a="http://schemas.openxmlformats.org/drawingml/2006/main" x="7334250" y="2114550"/>
          <a:ext xmlns:a="http://schemas.openxmlformats.org/drawingml/2006/main" cx="409575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95375"/>
                <a:gridCol w="952500"/>
                <a:gridCol w="952500"/>
                <a:gridCol w="1095375"/>
              </a:tblGrid>
              <a:tr h="5238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Candidate</a:t>
                      </a:r>
                    </a:p>
                  </a:txBody>
                  <a:tcPr marL="91440" marR="91440" marT="45720" marB="45720"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Mean rank</a:t>
                      </a:r>
                    </a:p>
                  </a:txBody>
                  <a:tcPr marL="91440" marR="91440" marT="45720" marB="45720"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P05–P95</a:t>
                      </a:r>
                    </a:p>
                  </a:txBody>
                  <a:tcPr marL="91440" marR="91440" marT="45720" marB="45720"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#1 probability</a:t>
                      </a:r>
                    </a:p>
                  </a:txBody>
                  <a:tcPr marL="91440" marR="91440" marT="45720" marB="45720">
                    <a:solidFill>
                      <a:srgbClr val="0B3954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C24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1.67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1–3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53.5%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C18</a:t>
                      </a:r>
                    </a:p>
                  </a:txBody>
                  <a:tcPr marL="91440" marR="91440" marT="45720" marB="45720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2.63</a:t>
                      </a:r>
                    </a:p>
                  </a:txBody>
                  <a:tcPr marL="91440" marR="91440" marT="45720" marB="45720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1–5</a:t>
                      </a:r>
                    </a:p>
                  </a:txBody>
                  <a:tcPr marL="91440" marR="91440" marT="45720" marB="45720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30.9%</a:t>
                      </a:r>
                    </a:p>
                  </a:txBody>
                  <a:tcPr marL="91440" marR="91440" marT="45720" marB="45720">
                    <a:solidFill>
                      <a:srgbClr val="EAF2F3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C17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3.13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2–5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2.7%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C07</a:t>
                      </a:r>
                    </a:p>
                  </a:txBody>
                  <a:tcPr marL="91440" marR="91440" marT="45720" marB="45720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4.35</a:t>
                      </a:r>
                    </a:p>
                  </a:txBody>
                  <a:tcPr marL="91440" marR="91440" marT="45720" marB="45720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3–6</a:t>
                      </a:r>
                    </a:p>
                  </a:txBody>
                  <a:tcPr marL="91440" marR="91440" marT="45720" marB="45720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0.0%</a:t>
                      </a:r>
                    </a:p>
                  </a:txBody>
                  <a:tcPr marL="91440" marR="91440" marT="45720" marB="45720">
                    <a:solidFill>
                      <a:srgbClr val="EAF2F3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C03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4.86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1–9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10.4%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D14A3C-2AE4-4BB8-8CDC-C0B9C2D1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56260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E76F51"/>
                </a:solidFill>
              </a:defRPr>
            </a:pPr>
            <a:r>
              <a:rPr sz="1275" b="1" i="0">
                <a:solidFill>
                  <a:srgbClr val="E76F51"/>
                </a:solidFill>
              </a:rPr>
              <a:t>Stable does not mean investment-ready; it means the ranking is not fragile to modest weight changes.</a:t>
            </a:r>
          </a:p>
        </p:txBody>
      </p:sp>
    </p:spTree>
    <p:extLst>
      <p:ext uri="{BB962C8B-B14F-4D97-AF65-F5344CB8AC3E}">
        <p14:creationId xmlns:p14="http://schemas.microsoft.com/office/powerpoint/2010/main" val="114573541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C2CA93-68F2-414B-ADA9-50AE22C3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3954"/>
                </a:solidFill>
              </a:defRPr>
            </a:pPr>
            <a:r>
              <a:rPr sz="2700" b="1" i="0">
                <a:solidFill>
                  <a:srgbClr val="0B3954"/>
                </a:solidFill>
              </a:rPr>
              <a:t>Optimization balances economics and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F12296-CF54-487E-938F-99586CA3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123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E008FC-35DB-40C4-A164-D4FE017AA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07D8B"/>
                </a:solidFill>
              </a:defRPr>
            </a:pPr>
            <a:r>
              <a:rPr sz="1500" b="0" i="0">
                <a:solidFill>
                  <a:srgbClr val="607D8B"/>
                </a:solidFill>
              </a:rPr>
              <a:t>Binary location-allocation chooses sites while preventing infeasible distance and budget combinations.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DDB0B9-FB38-4AD9-8D33-921F952E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07D8B"/>
                </a:solidFill>
              </a:defRPr>
            </a:pPr>
            <a:r>
              <a:rPr sz="825" b="0" i="0">
                <a:solidFill>
                  <a:srgbClr val="607D8B"/>
                </a:solidFill>
              </a:rPr>
              <a:t>Synthetic decision support • Human review required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AEA7B2-FF2C-42D2-A28F-B3850188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B3954"/>
                </a:solidFill>
              </a:defRPr>
            </a:pPr>
            <a:r>
              <a:rPr sz="900" b="1" i="0">
                <a:solidFill>
                  <a:srgbClr val="0B3954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8A554A-E28B-4000-8521-906ECF0F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A9D8F"/>
                </a:solidFill>
              </a:defRPr>
            </a:pPr>
            <a:r>
              <a:rPr sz="1350" b="1" i="0">
                <a:solidFill>
                  <a:srgbClr val="2A9D8F"/>
                </a:solidFill>
              </a:rPr>
              <a:t>MAXIMIZE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14CD80-03E3-4EDD-BBFC-0368D128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B3954"/>
                </a:solidFill>
              </a:defRPr>
            </a:pPr>
            <a:r>
              <a:rPr sz="2100" b="1" i="0">
                <a:solidFill>
                  <a:srgbClr val="0B3954"/>
                </a:solidFill>
              </a:rPr>
              <a:t>expected EBIT  +  location score  +  uncovered population  −  cannibalization penalty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36799C-5EC9-49DB-9BC5-065AD36C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7185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C"/>
          </a:solidFill>
          <a:ln xmlns:a="http://schemas.openxmlformats.org/drawingml/2006/main" w="0">
            <a:solidFill>
              <a:srgbClr val="C8D8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375F3D-671B-4B81-92BA-5BC71CD6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4A261"/>
                </a:solidFill>
              </a:defRPr>
            </a:pPr>
            <a:r>
              <a:rPr sz="1500" b="1" i="0">
                <a:solidFill>
                  <a:srgbClr val="F4A261"/>
                </a:solidFill>
              </a:rPr>
              <a:t>Budget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CDBEAD-8702-4D2F-B9EA-06CCD5ED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324D"/>
                </a:solidFill>
              </a:defRPr>
            </a:pPr>
            <a:r>
              <a:rPr sz="1350" b="0" i="0">
                <a:solidFill>
                  <a:srgbClr val="17324D"/>
                </a:solidFill>
              </a:rPr>
              <a:t>TRY 75m / 110m / 150m by scenario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B6DFCD-B45D-4A9C-807C-90A2751C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338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4A261"/>
                </a:solidFill>
              </a:defRPr>
            </a:pPr>
            <a:r>
              <a:rPr sz="1500" b="1" i="0">
                <a:solidFill>
                  <a:srgbClr val="F4A261"/>
                </a:solidFill>
              </a:rPr>
              <a:t>Portfolio capacity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0C9E7E-3278-45B9-875D-0AC68BE6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148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324D"/>
                </a:solidFill>
              </a:defRPr>
            </a:pPr>
            <a:r>
              <a:rPr sz="1350" b="0" i="0">
                <a:solidFill>
                  <a:srgbClr val="17324D"/>
                </a:solidFill>
              </a:rPr>
              <a:t>Maximum 4 / 5 / 6 stores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7BAB09-C66C-4F8A-B073-B8F5C62A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00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4A261"/>
                </a:solidFill>
              </a:defRPr>
            </a:pPr>
            <a:r>
              <a:rPr sz="1500" b="1" i="0">
                <a:solidFill>
                  <a:srgbClr val="F4A261"/>
                </a:solidFill>
              </a:rPr>
              <a:t>Minimum distance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A32A1B-BED6-4EB2-8105-B7FBF56E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816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324D"/>
                </a:solidFill>
              </a:defRPr>
            </a:pPr>
            <a:r>
              <a:rPr sz="1350" b="0" i="0">
                <a:solidFill>
                  <a:srgbClr val="17324D"/>
                </a:solidFill>
              </a:rPr>
              <a:t>4.5 km pairwise conflict constraint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772596-A41F-45A5-8123-EAEEEC4A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00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4A261"/>
                </a:solidFill>
              </a:defRPr>
            </a:pPr>
            <a:r>
              <a:rPr sz="1500" b="1" i="0">
                <a:solidFill>
                  <a:srgbClr val="F4A261"/>
                </a:solidFill>
              </a:rPr>
              <a:t>Coverage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F05050-47CA-4B89-A84A-9342D01B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1816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324D"/>
                </a:solidFill>
              </a:defRPr>
            </a:pPr>
            <a:r>
              <a:rPr sz="1350" b="0" i="0">
                <a:solidFill>
                  <a:srgbClr val="17324D"/>
                </a:solidFill>
              </a:rPr>
              <a:t>10-minute network catchments counted once</a:t>
            </a:r>
          </a:p>
        </p:txBody>
      </p:sp>
    </p:spTree>
    <p:extLst>
      <p:ext uri="{BB962C8B-B14F-4D97-AF65-F5344CB8AC3E}">
        <p14:creationId xmlns:p14="http://schemas.microsoft.com/office/powerpoint/2010/main" val="10922498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35CB21-1319-4328-B673-5A5F2C0A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3954"/>
                </a:solidFill>
              </a:defRPr>
            </a:pPr>
            <a:r>
              <a:rPr sz="2700" b="1" i="0">
                <a:solidFill>
                  <a:srgbClr val="0B3954"/>
                </a:solidFill>
              </a:rPr>
              <a:t>Downside economics turn negative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221D5D-5172-402C-8B72-B7D89FE5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123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D7BBFC-E58C-4265-9A48-D3B4AB69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07D8B"/>
                </a:solidFill>
              </a:defRPr>
            </a:pPr>
            <a:r>
              <a:rPr sz="1500" b="0" i="0">
                <a:solidFill>
                  <a:srgbClr val="607D8B"/>
                </a:solidFill>
              </a:rPr>
              <a:t>The pessimistic portfolio stays feasible but produces -TRY 2.1m expected EBIT under controlled assumptions.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94DE81-9A8A-4713-9AE5-1F835643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07D8B"/>
                </a:solidFill>
              </a:defRPr>
            </a:pPr>
            <a:r>
              <a:rPr sz="825" b="0" i="0">
                <a:solidFill>
                  <a:srgbClr val="607D8B"/>
                </a:solidFill>
              </a:rPr>
              <a:t>Synthetic decision support • Human review required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E64BAB-AD49-49CA-A573-5DC9AC9D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B3954"/>
                </a:solidFill>
              </a:defRPr>
            </a:pPr>
            <a:r>
              <a:rPr sz="900" b="1" i="0">
                <a:solidFill>
                  <a:srgbClr val="0B3954"/>
                </a:solidFill>
              </a:rPr>
              <a:t>14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28650" y="1905000"/>
          <a:ext xmlns:a="http://schemas.openxmlformats.org/drawingml/2006/main" cx="4953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8728c8556044e98"/>
          </a:graphicData>
        </a:graphic>
      </p:graphicFrame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0" y="2152650"/>
          <a:ext xmlns:a="http://schemas.openxmlformats.org/drawingml/2006/main" cx="581025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619125"/>
                <a:gridCol w="1000125"/>
                <a:gridCol w="952500"/>
                <a:gridCol w="1238250"/>
                <a:gridCol w="1047750"/>
              </a:tblGrid>
              <a:tr h="6429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Scenario</a:t>
                      </a:r>
                    </a:p>
                  </a:txBody>
                  <a:tcPr marL="91440" marR="91440" marT="45720" marB="45720"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Sites</a:t>
                      </a:r>
                    </a:p>
                  </a:txBody>
                  <a:tcPr marL="91440" marR="91440" marT="45720" marB="45720"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Budget used</a:t>
                      </a:r>
                    </a:p>
                  </a:txBody>
                  <a:tcPr marL="91440" marR="91440" marT="45720" marB="45720"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Sales</a:t>
                      </a:r>
                    </a:p>
                  </a:txBody>
                  <a:tcPr marL="91440" marR="91440" marT="45720" marB="45720"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Expected EBIT</a:t>
                      </a:r>
                    </a:p>
                  </a:txBody>
                  <a:tcPr marL="91440" marR="91440" marT="45720" marB="45720"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Coverage</a:t>
                      </a:r>
                    </a:p>
                  </a:txBody>
                  <a:tcPr marL="91440" marR="91440" marT="45720" marB="45720">
                    <a:solidFill>
                      <a:srgbClr val="0B3954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Pessimistic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TRY 74.5m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TRY 466.6m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TRY -2.1m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20.4%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Base</a:t>
                      </a:r>
                    </a:p>
                  </a:txBody>
                  <a:tcPr marL="91440" marR="91440" marT="45720" marB="45720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TRY 93.4m</a:t>
                      </a:r>
                    </a:p>
                  </a:txBody>
                  <a:tcPr marL="91440" marR="91440" marT="45720" marB="45720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TRY 732.6m</a:t>
                      </a:r>
                    </a:p>
                  </a:txBody>
                  <a:tcPr marL="91440" marR="91440" marT="45720" marB="45720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TRY 28.8m</a:t>
                      </a:r>
                    </a:p>
                  </a:txBody>
                  <a:tcPr marL="91440" marR="91440" marT="45720" marB="45720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23.1%</a:t>
                      </a:r>
                    </a:p>
                  </a:txBody>
                  <a:tcPr marL="91440" marR="91440" marT="45720" marB="45720">
                    <a:solidFill>
                      <a:srgbClr val="EAF2F3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Optimistic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TRY 135.8m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TRY 1256.3m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TRY 81.5m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27.8%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5B0871-2249-4F63-97DA-B8DB7FBD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6255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E76F51"/>
                </a:solidFill>
              </a:defRPr>
            </a:pPr>
            <a:r>
              <a:rPr sz="1350" b="1" i="0">
                <a:solidFill>
                  <a:srgbClr val="E76F51"/>
                </a:solidFill>
              </a:rPr>
              <a:t>Scenario outputs are comparative stress tests—not probability-weighted forecasts.</a:t>
            </a:r>
          </a:p>
        </p:txBody>
      </p:sp>
    </p:spTree>
    <p:extLst>
      <p:ext uri="{BB962C8B-B14F-4D97-AF65-F5344CB8AC3E}">
        <p14:creationId xmlns:p14="http://schemas.microsoft.com/office/powerpoint/2010/main" val="17485172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BA46F9-8BBC-48E1-A15B-A84D2B93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3954"/>
                </a:solidFill>
              </a:defRPr>
            </a:pPr>
            <a:r>
              <a:rPr sz="2700" b="1" i="0">
                <a:solidFill>
                  <a:srgbClr val="0B3954"/>
                </a:solidFill>
              </a:rPr>
              <a:t>Four sites anchor the base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89103-DA4A-4DD9-9658-25654D89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123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6604A1-3CCB-4CF9-A8F4-95540378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07D8B"/>
                </a:solidFill>
              </a:defRPr>
            </a:pPr>
            <a:r>
              <a:rPr sz="1500" b="0" i="0">
                <a:solidFill>
                  <a:srgbClr val="607D8B"/>
                </a:solidFill>
              </a:rPr>
              <a:t>Ikitelli, Sultanbeyli, Sancaktepe and Eyupsultan form the optimized TRY 93.4m portfolio.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6952AA-17D5-4855-96E4-8F81398F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07D8B"/>
                </a:solidFill>
              </a:defRPr>
            </a:pPr>
            <a:r>
              <a:rPr sz="825" b="0" i="0">
                <a:solidFill>
                  <a:srgbClr val="607D8B"/>
                </a:solidFill>
              </a:rPr>
              <a:t>Synthetic decision support • Human review required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B159F1-6DBA-4ECB-A8B4-9D1D7D48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B3954"/>
                </a:solidFill>
              </a:defRPr>
            </a:pPr>
            <a:r>
              <a:rPr sz="900" b="1" i="0">
                <a:solidFill>
                  <a:srgbClr val="0B3954"/>
                </a:solidFill>
              </a:rPr>
              <a:t>15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e689e523304c77"/>
          <a:stretch xmlns:a="http://schemas.openxmlformats.org/drawingml/2006/main"/>
        </p:blipFill>
        <p:spPr>
          <a:xfrm xmlns:a="http://schemas.openxmlformats.org/drawingml/2006/main">
            <a:off x="457200" y="1797119"/>
            <a:ext cx="6953250" cy="4235313"/>
          </a:xfrm>
          <a:prstGeom xmlns:a="http://schemas.openxmlformats.org/drawingml/2006/main" prst="rect">
            <a:avLst/>
          </a:prstGeom>
        </p:spPr>
      </p:pic>
      <p:graphicFrame>
        <p:nvGraphicFramePr>
          <p:cNvPr id="15" name=""/>
          <p:cNvGraphicFramePr/>
          <p:nvPr/>
        </p:nvGraphicFramePr>
        <p:xfrm>
          <a:off xmlns:a="http://schemas.openxmlformats.org/drawingml/2006/main" x="7543800" y="2152650"/>
          <a:ext xmlns:a="http://schemas.openxmlformats.org/drawingml/2006/main" cx="40005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"/>
                <a:gridCol w="1476375"/>
                <a:gridCol w="619125"/>
                <a:gridCol w="714375"/>
                <a:gridCol w="571500"/>
              </a:tblGrid>
              <a:tr h="5524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 marL="91440" marR="91440" marT="45720" marB="45720"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Site</a:t>
                      </a:r>
                    </a:p>
                  </a:txBody>
                  <a:tcPr marL="91440" marR="91440" marT="45720" marB="45720"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Score</a:t>
                      </a:r>
                    </a:p>
                  </a:txBody>
                  <a:tcPr marL="91440" marR="91440" marT="45720" marB="45720"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Cost</a:t>
                      </a:r>
                    </a:p>
                  </a:txBody>
                  <a:tcPr marL="91440" marR="91440" marT="45720" marB="45720"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 marL="91440" marR="91440" marT="45720" marB="45720">
                    <a:solidFill>
                      <a:srgbClr val="0B3954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P1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Ikitelli Industry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81.2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TRY 23.4m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1.0%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P2</a:t>
                      </a:r>
                    </a:p>
                  </a:txBody>
                  <a:tcPr marL="91440" marR="91440" marT="45720" marB="45720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Sultanbeyli Square</a:t>
                      </a:r>
                    </a:p>
                  </a:txBody>
                  <a:tcPr marL="91440" marR="91440" marT="45720" marB="45720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80.5</a:t>
                      </a:r>
                    </a:p>
                  </a:txBody>
                  <a:tcPr marL="91440" marR="91440" marT="45720" marB="45720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TRY 22.3m</a:t>
                      </a:r>
                    </a:p>
                  </a:txBody>
                  <a:tcPr marL="91440" marR="91440" marT="45720" marB="45720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1.8%</a:t>
                      </a:r>
                    </a:p>
                  </a:txBody>
                  <a:tcPr marL="91440" marR="91440" marT="45720" marB="45720">
                    <a:solidFill>
                      <a:srgbClr val="EAF2F3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P3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Sancaktepe Hub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80.1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TRY 24.3m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2.6%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P4</a:t>
                      </a:r>
                    </a:p>
                  </a:txBody>
                  <a:tcPr marL="91440" marR="91440" marT="45720" marB="45720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Eyupsultan Hub</a:t>
                      </a:r>
                    </a:p>
                  </a:txBody>
                  <a:tcPr marL="91440" marR="91440" marT="45720" marB="45720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78.9</a:t>
                      </a:r>
                    </a:p>
                  </a:txBody>
                  <a:tcPr marL="91440" marR="91440" marT="45720" marB="45720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TRY 23.4m</a:t>
                      </a:r>
                    </a:p>
                  </a:txBody>
                  <a:tcPr marL="91440" marR="91440" marT="45720" marB="45720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324D"/>
                          </a:solidFill>
                        </a:rPr>
                        <a:t>34.9%</a:t>
                      </a:r>
                    </a:p>
                  </a:txBody>
                  <a:tcPr marL="91440" marR="91440" marT="45720" marB="45720">
                    <a:solidFill>
                      <a:srgbClr val="EAF2F3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08CD08-4F28-4A87-AA91-E1F89382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314950"/>
            <a:ext cx="3619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E76F51"/>
                </a:solidFill>
              </a:defRPr>
            </a:pPr>
            <a:r>
              <a:rPr sz="1350" b="1" i="0">
                <a:solidFill>
                  <a:srgbClr val="E76F51"/>
                </a:solidFill>
              </a:rPr>
              <a:t>Eyupsultan contributes reach but carries 34.9% cannibalization risk; validate estate overlap before approval.</a:t>
            </a:r>
          </a:p>
        </p:txBody>
      </p:sp>
    </p:spTree>
    <p:extLst>
      <p:ext uri="{BB962C8B-B14F-4D97-AF65-F5344CB8AC3E}">
        <p14:creationId xmlns:p14="http://schemas.microsoft.com/office/powerpoint/2010/main" val="185057069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E55F63-7BB3-4924-8C0D-04F0C660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3954"/>
                </a:solidFill>
              </a:defRPr>
            </a:pPr>
            <a:r>
              <a:rPr sz="2700" b="1" i="0">
                <a:solidFill>
                  <a:srgbClr val="0B3954"/>
                </a:solidFill>
              </a:rPr>
              <a:t>Demand strength does not ensure site economics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F3AD3F-56C9-4BB0-9C01-EF2DA0C4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123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365F4C-444F-4195-8863-DB204715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07D8B"/>
                </a:solidFill>
              </a:defRPr>
            </a:pPr>
            <a:r>
              <a:rPr sz="1500" b="0" i="0">
                <a:solidFill>
                  <a:srgbClr val="607D8B"/>
                </a:solidFill>
              </a:rPr>
              <a:t>Three of four base-selected sites have negative controlled three-year ROI before field validation.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D69DE1-E0B9-4747-9680-89942C26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07D8B"/>
                </a:solidFill>
              </a:defRPr>
            </a:pPr>
            <a:r>
              <a:rPr sz="825" b="0" i="0">
                <a:solidFill>
                  <a:srgbClr val="607D8B"/>
                </a:solidFill>
              </a:rPr>
              <a:t>Synthetic decision support • Human review required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33D1A9-7AA8-4ED5-BD0C-2F2126E3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B3954"/>
                </a:solidFill>
              </a:defRPr>
            </a:pPr>
            <a:r>
              <a:rPr sz="900" b="1" i="0">
                <a:solidFill>
                  <a:srgbClr val="0B3954"/>
                </a:solidFill>
              </a:rPr>
              <a:t>16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66750" y="1866900"/>
          <a:ext xmlns:a="http://schemas.openxmlformats.org/drawingml/2006/main" cx="6858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0c9e7e1f5d34718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80241D-708F-4C84-9D97-F1744290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9120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B3954"/>
                </a:solidFill>
              </a:defRPr>
            </a:pPr>
            <a:r>
              <a:rPr sz="1125" b="1" i="0">
                <a:solidFill>
                  <a:srgbClr val="0B3954"/>
                </a:solidFill>
              </a:rPr>
              <a:t>C24 -16.0%  •  C18 14.7%  •  C17 -20.1%  •  C07 -6.6%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BAC60A-D6A0-4729-96CA-E643A064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3954"/>
                </a:solidFill>
              </a:defRPr>
            </a:pPr>
            <a:r>
              <a:rPr sz="3000" b="1" i="0">
                <a:solidFill>
                  <a:srgbClr val="0B3954"/>
                </a:solidFill>
              </a:rPr>
              <a:t>TRY 28.8m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2EDC35-799E-4D10-B67D-A6874C53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2415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2A5CE6-2E8E-4321-91F1-40E187D1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07D8B"/>
                </a:solidFill>
              </a:defRPr>
            </a:pPr>
            <a:r>
              <a:rPr sz="1200" b="0" i="0">
                <a:solidFill>
                  <a:srgbClr val="607D8B"/>
                </a:solidFill>
              </a:rPr>
              <a:t>base portfolio expected EBIT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B9A32F-A59D-4593-990C-7DE93D04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814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3954"/>
                </a:solidFill>
              </a:defRPr>
            </a:pPr>
            <a:r>
              <a:rPr sz="3000" b="1" i="0">
                <a:solidFill>
                  <a:srgbClr val="0B3954"/>
                </a:solidFill>
              </a:rPr>
              <a:t>42.9 mo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D7212A-DE5D-45BA-B856-1910C1E8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F7B289-7978-439D-82E6-6A1915FC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053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07D8B"/>
                </a:solidFill>
              </a:defRPr>
            </a:pPr>
            <a:r>
              <a:rPr sz="1200" b="0" i="0">
                <a:solidFill>
                  <a:srgbClr val="607D8B"/>
                </a:solidFill>
              </a:rPr>
              <a:t>Ikitelli payback proxy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5D3BA2-9E4F-49AB-9612-EA55867E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67300"/>
            <a:ext cx="323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3954"/>
                </a:solidFill>
              </a:defRPr>
            </a:pPr>
            <a:r>
              <a:rPr sz="1350" b="1" i="0">
                <a:solidFill>
                  <a:srgbClr val="0B3954"/>
                </a:solidFill>
              </a:rPr>
              <a:t>Required validation: binding rent quote, fit-out capex, staffing plan, unit margin and opening ramp.</a:t>
            </a:r>
          </a:p>
        </p:txBody>
      </p:sp>
    </p:spTree>
    <p:extLst>
      <p:ext uri="{BB962C8B-B14F-4D97-AF65-F5344CB8AC3E}">
        <p14:creationId xmlns:p14="http://schemas.microsoft.com/office/powerpoint/2010/main" val="202581254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CAEA55-C28E-4D6E-9329-AC89864D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3954"/>
                </a:solidFill>
              </a:defRPr>
            </a:pPr>
            <a:r>
              <a:rPr sz="2700" b="1" i="0">
                <a:solidFill>
                  <a:srgbClr val="0B3954"/>
                </a:solidFill>
              </a:rPr>
              <a:t>Operational controls keep the decision system reviewable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7D9946-D389-43E6-A624-07F31F9D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123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F560F6-5C84-4B10-8B50-F2B3EC67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07D8B"/>
                </a:solidFill>
              </a:defRPr>
            </a:pPr>
            <a:r>
              <a:rPr sz="1500" b="0" i="0">
                <a:solidFill>
                  <a:srgbClr val="607D8B"/>
                </a:solidFill>
              </a:rPr>
              <a:t>Data quality, model drift, API health and incident ownership are treated as production concerns.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EAA1A1-54AB-4808-873A-E924D99D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07D8B"/>
                </a:solidFill>
              </a:defRPr>
            </a:pPr>
            <a:r>
              <a:rPr sz="825" b="0" i="0">
                <a:solidFill>
                  <a:srgbClr val="607D8B"/>
                </a:solidFill>
              </a:rPr>
              <a:t>Synthetic decision support • Human review required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226A3D-4B6B-4F2A-8299-F0C70E8F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B3954"/>
                </a:solidFill>
              </a:defRPr>
            </a:pPr>
            <a:r>
              <a:rPr sz="900" b="1" i="0">
                <a:solidFill>
                  <a:srgbClr val="0B3954"/>
                </a:solidFill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713240-3EB7-4C81-BA4A-732800F8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240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A9D8F"/>
                </a:solidFill>
              </a:defRPr>
            </a:pPr>
            <a:r>
              <a:rPr sz="1350" b="1" i="0">
                <a:solidFill>
                  <a:srgbClr val="2A9D8F"/>
                </a:solidFill>
              </a:rPr>
              <a:t>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5C8AA1-0A11-4ADC-8DB2-7AEB1E58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8859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3954"/>
                </a:solidFill>
              </a:defRPr>
            </a:pPr>
            <a:r>
              <a:rPr sz="1800" b="1" i="0">
                <a:solidFill>
                  <a:srgbClr val="0B3954"/>
                </a:solidFill>
              </a:rPr>
              <a:t>46 checks • 44 pass • 2 non-critical spatial-coverage warnings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2A687D-D667-462F-A2A7-5D963D8F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812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07D8B"/>
                </a:solidFill>
              </a:defRPr>
            </a:pPr>
            <a:r>
              <a:rPr sz="1275" b="0" i="0">
                <a:solidFill>
                  <a:srgbClr val="607D8B"/>
                </a:solidFill>
              </a:rPr>
              <a:t>Geometry, CRS, duplicates, missing values and joins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0B24EC-F764-48FA-9FF8-DA817E94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337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C"/>
          </a:solidFill>
          <a:ln xmlns:a="http://schemas.openxmlformats.org/drawingml/2006/main" w="0">
            <a:solidFill>
              <a:srgbClr val="C8D8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84F769-8ED1-4BCC-87E3-2A3D5356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A261"/>
                </a:solidFill>
              </a:defRPr>
            </a:pPr>
            <a:r>
              <a:rPr sz="1350" b="1" i="0">
                <a:solidFill>
                  <a:srgbClr val="F4A261"/>
                </a:solidFill>
              </a:rPr>
              <a:t>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284707-D437-4CE4-8272-3E96F34A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1242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3954"/>
                </a:solidFill>
              </a:defRPr>
            </a:pPr>
            <a:r>
              <a:rPr sz="1800" b="1" i="0">
                <a:solidFill>
                  <a:srgbClr val="0B3954"/>
                </a:solidFill>
              </a:rPr>
              <a:t>Spatial CV • SHAP • weight sensitivity • model card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BE69D4-75B8-4F5F-BBC2-AC3F3338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195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07D8B"/>
                </a:solidFill>
              </a:defRPr>
            </a:pPr>
            <a:r>
              <a:rPr sz="1275" b="0" i="0">
                <a:solidFill>
                  <a:srgbClr val="607D8B"/>
                </a:solidFill>
              </a:rPr>
              <a:t>Monitor residual drift, rank stability and feature distributions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F14D70-2F33-4179-8AA7-3D300AB9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C"/>
          </a:solidFill>
          <a:ln xmlns:a="http://schemas.openxmlformats.org/drawingml/2006/main" w="0">
            <a:solidFill>
              <a:srgbClr val="C8D8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60082E-9F78-48D5-B2D5-4EA337F7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A86FF"/>
                </a:solidFill>
              </a:defRPr>
            </a:pPr>
            <a:r>
              <a:rPr sz="1350" b="1" i="0">
                <a:solidFill>
                  <a:srgbClr val="3A86FF"/>
                </a:solidFill>
              </a:rPr>
              <a:t>SERVICE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6BE2B3-BBE0-4311-843A-B10F8B1A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624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3954"/>
                </a:solidFill>
              </a:defRPr>
            </a:pPr>
            <a:r>
              <a:rPr sz="1800" b="1" i="0">
                <a:solidFill>
                  <a:srgbClr val="0B3954"/>
                </a:solidFill>
              </a:rPr>
              <a:t>FastAPI • Prometheus • Grafana • runbook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BE61FD-91E7-4294-9F1E-C50397E8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577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07D8B"/>
                </a:solidFill>
              </a:defRPr>
            </a:pPr>
            <a:r>
              <a:rPr sz="1275" b="0" i="0">
                <a:solidFill>
                  <a:srgbClr val="607D8B"/>
                </a:solidFill>
              </a:rPr>
              <a:t>Health, latency, errors, artifact freshness and rollback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93C119-3857-4DFC-8827-33F18514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102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C"/>
          </a:solidFill>
          <a:ln xmlns:a="http://schemas.openxmlformats.org/drawingml/2006/main" w="0">
            <a:solidFill>
              <a:srgbClr val="C8D8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D62329-2FA7-404A-9F9A-9192CCA5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531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E76F51"/>
                </a:solidFill>
              </a:defRPr>
            </a:pPr>
            <a:r>
              <a:rPr sz="1275" b="1" i="0">
                <a:solidFill>
                  <a:srgbClr val="E76F51"/>
                </a:solidFill>
              </a:rPr>
              <a:t>Open warnings: 7 synthetic competitors and 16 synthetic POIs fall outside the analytical footprint; no critical failures.</a:t>
            </a:r>
          </a:p>
        </p:txBody>
      </p:sp>
    </p:spTree>
    <p:extLst>
      <p:ext uri="{BB962C8B-B14F-4D97-AF65-F5344CB8AC3E}">
        <p14:creationId xmlns:p14="http://schemas.microsoft.com/office/powerpoint/2010/main" val="57535442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9AD16B-022B-4300-A792-7B785DC3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B3954"/>
                </a:solidFill>
              </a:defRPr>
            </a:pPr>
            <a:r>
              <a:rPr sz="2700" b="1" i="0">
                <a:solidFill>
                  <a:srgbClr val="0B3954"/>
                </a:solidFill>
              </a:rPr>
              <a:t>Four gates precede capital approval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706FD2-6533-4928-979B-6855ABAD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123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298CDD-2472-4AFF-8DA4-26D7B3B1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07D8B"/>
                </a:solidFill>
              </a:defRPr>
            </a:pPr>
            <a:r>
              <a:rPr sz="1500" b="0" i="0">
                <a:solidFill>
                  <a:srgbClr val="607D8B"/>
                </a:solidFill>
              </a:rPr>
              <a:t>The analytical portfolio is ready for review; publication and investment decisions remain explicitly separate.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80F313-03E6-4C50-AD0B-8D0344D5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07D8B"/>
                </a:solidFill>
              </a:defRPr>
            </a:pPr>
            <a:r>
              <a:rPr sz="825" b="0" i="0">
                <a:solidFill>
                  <a:srgbClr val="607D8B"/>
                </a:solidFill>
              </a:rPr>
              <a:t>Synthetic decision support • Human review required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EF876F-E954-4581-8A32-364C9723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B3954"/>
                </a:solidFill>
              </a:defRPr>
            </a:pPr>
            <a:r>
              <a:rPr sz="900" b="1" i="0">
                <a:solidFill>
                  <a:srgbClr val="0B3954"/>
                </a:solidFill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AD98F4-F71B-4E29-9419-A7728C5B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A9D8F"/>
                </a:solidFill>
              </a:defRPr>
            </a:pPr>
            <a:r>
              <a:rPr sz="1500" b="1" i="0">
                <a:solidFill>
                  <a:srgbClr val="2A9D8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555B4B-A31A-42B4-A785-BF751077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907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3954"/>
                </a:solidFill>
              </a:defRPr>
            </a:pPr>
            <a:r>
              <a:rPr sz="1800" b="1" i="0">
                <a:solidFill>
                  <a:srgbClr val="0B3954"/>
                </a:solidFill>
              </a:rPr>
              <a:t>Site survey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F368E3-8D7F-4C2E-996F-C4E9E150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09750"/>
            <a:ext cx="666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324D"/>
                </a:solidFill>
              </a:defRPr>
            </a:pPr>
            <a:r>
              <a:rPr sz="1275" b="0" i="0">
                <a:solidFill>
                  <a:srgbClr val="17324D"/>
                </a:solidFill>
              </a:rPr>
              <a:t>Validate visibility, footfall, access, parcel constraints and address accuracy.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9DA71A-A3CC-4789-8D68-CC9E52B7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C"/>
          </a:solidFill>
          <a:ln xmlns:a="http://schemas.openxmlformats.org/drawingml/2006/main" w="0">
            <a:solidFill>
              <a:srgbClr val="C8D8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DE26FC-FF99-4A1D-B9D5-004A2236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03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A9D8F"/>
                </a:solidFill>
              </a:defRPr>
            </a:pPr>
            <a:r>
              <a:rPr sz="1500" b="1" i="0">
                <a:solidFill>
                  <a:srgbClr val="2A9D8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A8A721-C45F-488E-B3A1-FBF12873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813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3954"/>
                </a:solidFill>
              </a:defRPr>
            </a:pPr>
            <a:r>
              <a:rPr sz="1800" b="1" i="0">
                <a:solidFill>
                  <a:srgbClr val="0B3954"/>
                </a:solidFill>
              </a:rPr>
              <a:t>Independent routing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8BF036-BBE8-4BC4-834A-DD59CFB6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00350"/>
            <a:ext cx="666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324D"/>
                </a:solidFill>
              </a:defRPr>
            </a:pPr>
            <a:r>
              <a:rPr sz="1275" b="0" i="0">
                <a:solidFill>
                  <a:srgbClr val="17324D"/>
                </a:solidFill>
              </a:rPr>
              <a:t>Rebuild drive/walk isochrones with a current road network and live traffic assumptions.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35103B-64D3-47F9-8972-D3F22FAB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C"/>
          </a:solidFill>
          <a:ln xmlns:a="http://schemas.openxmlformats.org/drawingml/2006/main" w="0">
            <a:solidFill>
              <a:srgbClr val="C8D8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2BDF7A-730D-4A6E-8EB0-99D5CF54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A9D8F"/>
                </a:solidFill>
              </a:defRPr>
            </a:pPr>
            <a:r>
              <a:rPr sz="1500" b="1" i="0">
                <a:solidFill>
                  <a:srgbClr val="2A9D8F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C5E382-0EC8-4B88-90B6-AD80CD37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719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3954"/>
                </a:solidFill>
              </a:defRPr>
            </a:pPr>
            <a:r>
              <a:rPr sz="1800" b="1" i="0">
                <a:solidFill>
                  <a:srgbClr val="0B3954"/>
                </a:solidFill>
              </a:rPr>
              <a:t>Commercial diligence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EF6313-53D9-45C2-82D2-093C81B3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90950"/>
            <a:ext cx="666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324D"/>
                </a:solidFill>
              </a:defRPr>
            </a:pPr>
            <a:r>
              <a:rPr sz="1275" b="0" i="0">
                <a:solidFill>
                  <a:srgbClr val="17324D"/>
                </a:solidFill>
              </a:rPr>
              <a:t>Replace synthetic rent, capex, opex, margin and ramp inputs with binding evidence.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3A9A42-C177-486A-B473-EE8B536E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C"/>
          </a:solidFill>
          <a:ln xmlns:a="http://schemas.openxmlformats.org/drawingml/2006/main" w="0">
            <a:solidFill>
              <a:srgbClr val="C8D8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BC77F9-0EB4-4D9E-B404-DDCA625B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815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A9D8F"/>
                </a:solidFill>
              </a:defRPr>
            </a:pPr>
            <a:r>
              <a:rPr sz="1500" b="1" i="0">
                <a:solidFill>
                  <a:srgbClr val="2A9D8F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86C9DE-0FCF-4000-A3F0-F90498E4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625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3954"/>
                </a:solidFill>
              </a:defRPr>
            </a:pPr>
            <a:r>
              <a:rPr sz="1800" b="1" i="0">
                <a:solidFill>
                  <a:srgbClr val="0B3954"/>
                </a:solidFill>
              </a:rPr>
              <a:t>Investment committee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11BEE0-EB10-4F26-92EA-838AB309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81550"/>
            <a:ext cx="666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324D"/>
                </a:solidFill>
              </a:defRPr>
            </a:pPr>
            <a:r>
              <a:rPr sz="1275" b="0" i="0">
                <a:solidFill>
                  <a:srgbClr val="17324D"/>
                </a:solidFill>
              </a:rPr>
              <a:t>Review portfolio synergies, downside case, cannibalization and implementation capacity.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47B272-D387-44ED-8B6E-E46D220A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C"/>
          </a:solidFill>
          <a:ln xmlns:a="http://schemas.openxmlformats.org/drawingml/2006/main" w="0">
            <a:solidFill>
              <a:srgbClr val="C8D8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D91A9F-77FD-42C6-A3CD-30651E0F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4A261"/>
                </a:solidFill>
              </a:defRPr>
            </a:pPr>
            <a:r>
              <a:rPr sz="1650" b="1" i="0">
                <a:solidFill>
                  <a:srgbClr val="F4A261"/>
                </a:solidFill>
              </a:rPr>
              <a:t>PROJECT STATUS  •  READY FOR REVIEW  •  NOT PUBLISHED</a:t>
            </a:r>
          </a:p>
        </p:txBody>
      </p:sp>
    </p:spTree>
    <p:extLst>
      <p:ext uri="{BB962C8B-B14F-4D97-AF65-F5344CB8AC3E}">
        <p14:creationId xmlns:p14="http://schemas.microsoft.com/office/powerpoint/2010/main" val="18366091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2026-07-29T15:20:18.0240000Z</dcterms:created>
  <dcterms:modified xsi:type="dcterms:W3CDTF">2026-07-29T15:20:18.0240000Z</dcterms:modified>
</coreProperties>
</file>